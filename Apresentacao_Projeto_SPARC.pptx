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96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4754880" cy="41148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🔴 VERSÃO BETA — CLARO S.A. — ATIVAÇÃO 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Segoe UI"/>
              </a:defRPr>
            </a:pPr>
            <a:r>
              <a:t>SPARC</a:t>
            </a:r>
          </a:p>
          <a:p>
            <a:pPr>
              <a:spcBef>
                <a:spcPts val="800"/>
              </a:spcBef>
              <a:defRPr sz="2200" b="1">
                <a:solidFill>
                  <a:srgbClr val="FECDD3"/>
                </a:solidFill>
                <a:latin typeface="Segoe UI"/>
              </a:defRPr>
            </a:pPr>
            <a:r>
              <a:t>Sistema de Provisionamento e Ativação de Roteadores Claro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71218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Segoe UI"/>
              </a:defRPr>
            </a:pPr>
            <a:r>
              <a:rPr dirty="0"/>
              <a:t>Plataforma </a:t>
            </a:r>
            <a:r>
              <a:rPr dirty="0" err="1"/>
              <a:t>integrada</a:t>
            </a:r>
            <a:r>
              <a:rPr dirty="0"/>
              <a:t> e </a:t>
            </a:r>
            <a:r>
              <a:rPr dirty="0" err="1"/>
              <a:t>autônoma</a:t>
            </a:r>
            <a:r>
              <a:rPr dirty="0"/>
              <a:t> para </a:t>
            </a:r>
            <a:r>
              <a:rPr dirty="0" err="1"/>
              <a:t>quebra</a:t>
            </a:r>
            <a:r>
              <a:rPr dirty="0"/>
              <a:t> de </a:t>
            </a:r>
            <a:r>
              <a:rPr dirty="0" err="1"/>
              <a:t>senha</a:t>
            </a:r>
            <a:r>
              <a:rPr dirty="0"/>
              <a:t>, upgrade de firmware TFTP,</a:t>
            </a:r>
            <a:br>
              <a:rPr dirty="0"/>
            </a:br>
            <a:r>
              <a:rPr dirty="0" err="1"/>
              <a:t>parametrização</a:t>
            </a:r>
            <a:r>
              <a:rPr dirty="0"/>
              <a:t> de </a:t>
            </a:r>
            <a:r>
              <a:rPr dirty="0" err="1"/>
              <a:t>Ficha</a:t>
            </a:r>
            <a:r>
              <a:rPr dirty="0"/>
              <a:t> SAIP e </a:t>
            </a:r>
            <a:r>
              <a:rPr dirty="0" err="1"/>
              <a:t>homologação</a:t>
            </a:r>
            <a:r>
              <a:rPr dirty="0"/>
              <a:t> </a:t>
            </a:r>
            <a:r>
              <a:rPr dirty="0" err="1"/>
              <a:t>automatizada</a:t>
            </a:r>
            <a:r>
              <a:rPr dirty="0"/>
              <a:t> de CPE (Cisco</a:t>
            </a:r>
            <a:r>
              <a:rPr lang="pt-BR" dirty="0"/>
              <a:t>,</a:t>
            </a:r>
            <a:r>
              <a:rPr dirty="0"/>
              <a:t> HPE</a:t>
            </a:r>
            <a:r>
              <a:rPr lang="pt-BR" dirty="0"/>
              <a:t> e mais</a:t>
            </a:r>
            <a:r>
              <a:rPr dirty="0"/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577840"/>
            <a:ext cx="645240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ECDD3"/>
                </a:solidFill>
                <a:latin typeface="Segoe UI"/>
              </a:defRPr>
            </a:pPr>
            <a:r>
              <a:rPr lang="pt-BR" dirty="0"/>
              <a:t>Instalação Empresarial - </a:t>
            </a:r>
            <a:r>
              <a:rPr dirty="0" err="1"/>
              <a:t>Ativação</a:t>
            </a:r>
            <a:r>
              <a:rPr dirty="0"/>
              <a:t>  |  Regional Santa Catarina  |  george.calcmann@claro.com.br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ECDD3"/>
                </a:solidFill>
                <a:latin typeface="Segoe UI"/>
              </a:defRPr>
            </a:pPr>
            <a:r>
              <a:t>🔴 CLARO S.A. — ATIVAÇÃO SC · SPARC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Contexto Operacional: Transformando a Ativação de Circuitos B2B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SPARC — Sistema de Provisionamento e Ativação de Roteadores Claro  |  Contato: george.calcmann@claro.com.br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120640" cy="64008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❌ Processo Manual Anterior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75488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rPr dirty="0"/>
              <a:t>Tempo </a:t>
            </a:r>
            <a:r>
              <a:rPr dirty="0" err="1"/>
              <a:t>Médio</a:t>
            </a:r>
            <a:r>
              <a:rPr dirty="0"/>
              <a:t> Elevado: ~35 a 50 </a:t>
            </a:r>
            <a:r>
              <a:rPr dirty="0" err="1"/>
              <a:t>minutos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roteador</a:t>
            </a:r>
            <a:r>
              <a:rPr dirty="0"/>
              <a:t> para </a:t>
            </a:r>
            <a:r>
              <a:rPr dirty="0" err="1"/>
              <a:t>recuperação</a:t>
            </a:r>
            <a:r>
              <a:rPr dirty="0"/>
              <a:t> de </a:t>
            </a:r>
            <a:r>
              <a:rPr dirty="0" err="1"/>
              <a:t>senha</a:t>
            </a:r>
            <a:r>
              <a:rPr dirty="0"/>
              <a:t>, </a:t>
            </a:r>
            <a:r>
              <a:rPr dirty="0" err="1"/>
              <a:t>cópia</a:t>
            </a:r>
            <a:r>
              <a:rPr dirty="0"/>
              <a:t> de firmware e </a:t>
            </a:r>
            <a:r>
              <a:rPr dirty="0" err="1"/>
              <a:t>configuração</a:t>
            </a:r>
            <a:r>
              <a:rPr dirty="0"/>
              <a:t>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rPr dirty="0" err="1"/>
              <a:t>Fricção</a:t>
            </a:r>
            <a:r>
              <a:rPr dirty="0"/>
              <a:t> com </a:t>
            </a:r>
            <a:r>
              <a:rPr dirty="0" err="1"/>
              <a:t>Senhas</a:t>
            </a:r>
            <a:r>
              <a:rPr dirty="0"/>
              <a:t> </a:t>
            </a:r>
            <a:r>
              <a:rPr dirty="0" err="1"/>
              <a:t>Desconhecidas</a:t>
            </a:r>
            <a:r>
              <a:rPr dirty="0"/>
              <a:t>: </a:t>
            </a:r>
            <a:r>
              <a:rPr dirty="0" err="1"/>
              <a:t>Necessidade</a:t>
            </a:r>
            <a:r>
              <a:rPr dirty="0"/>
              <a:t> de </a:t>
            </a:r>
            <a:r>
              <a:rPr dirty="0" err="1"/>
              <a:t>comandos</a:t>
            </a:r>
            <a:r>
              <a:rPr dirty="0"/>
              <a:t> </a:t>
            </a:r>
            <a:r>
              <a:rPr dirty="0" err="1"/>
              <a:t>manuais</a:t>
            </a:r>
            <a:r>
              <a:rPr dirty="0"/>
              <a:t> </a:t>
            </a:r>
            <a:r>
              <a:rPr dirty="0" err="1"/>
              <a:t>complexos</a:t>
            </a:r>
            <a:r>
              <a:rPr dirty="0"/>
              <a:t> de ROMMON (0x2142) e </a:t>
            </a:r>
            <a:r>
              <a:rPr dirty="0" err="1"/>
              <a:t>BootWare</a:t>
            </a:r>
            <a:r>
              <a:rPr dirty="0"/>
              <a:t> (Ctrl+B).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rPr dirty="0" err="1"/>
              <a:t>Dependência</a:t>
            </a:r>
            <a:r>
              <a:rPr dirty="0"/>
              <a:t> de </a:t>
            </a:r>
            <a:r>
              <a:rPr dirty="0" err="1"/>
              <a:t>Múltiplos</a:t>
            </a:r>
            <a:r>
              <a:rPr dirty="0"/>
              <a:t> </a:t>
            </a:r>
            <a:r>
              <a:rPr dirty="0" err="1"/>
              <a:t>Softwares</a:t>
            </a:r>
            <a:r>
              <a:rPr dirty="0"/>
              <a:t>: </a:t>
            </a:r>
            <a:r>
              <a:rPr dirty="0" err="1"/>
              <a:t>Operador</a:t>
            </a:r>
            <a:r>
              <a:rPr dirty="0"/>
              <a:t> </a:t>
            </a:r>
            <a:r>
              <a:rPr dirty="0" err="1"/>
              <a:t>precisava</a:t>
            </a:r>
            <a:r>
              <a:rPr dirty="0"/>
              <a:t> de PuTTY, TFTPD32, </a:t>
            </a:r>
            <a:r>
              <a:rPr dirty="0" err="1"/>
              <a:t>calculadoras</a:t>
            </a:r>
            <a:r>
              <a:rPr dirty="0"/>
              <a:t> de IP e </a:t>
            </a:r>
            <a:r>
              <a:rPr dirty="0" err="1"/>
              <a:t>blocos</a:t>
            </a:r>
            <a:r>
              <a:rPr dirty="0"/>
              <a:t> de </a:t>
            </a:r>
            <a:r>
              <a:rPr dirty="0" err="1"/>
              <a:t>notas</a:t>
            </a:r>
            <a:r>
              <a:rPr dirty="0"/>
              <a:t>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rPr dirty="0"/>
              <a:t>Risco de Erro Humano: </a:t>
            </a:r>
            <a:r>
              <a:rPr dirty="0" err="1"/>
              <a:t>Digitação</a:t>
            </a:r>
            <a:r>
              <a:rPr dirty="0"/>
              <a:t> </a:t>
            </a:r>
            <a:r>
              <a:rPr dirty="0" err="1"/>
              <a:t>incorreta</a:t>
            </a:r>
            <a:r>
              <a:rPr dirty="0"/>
              <a:t> de </a:t>
            </a:r>
            <a:r>
              <a:rPr dirty="0" err="1"/>
              <a:t>máscaras</a:t>
            </a:r>
            <a:r>
              <a:rPr dirty="0"/>
              <a:t> de rede, IPs de WAN/LAN e </a:t>
            </a:r>
            <a:r>
              <a:rPr dirty="0" err="1"/>
              <a:t>rotas</a:t>
            </a:r>
            <a:r>
              <a:rPr dirty="0"/>
              <a:t> </a:t>
            </a:r>
            <a:r>
              <a:rPr dirty="0" err="1"/>
              <a:t>estáticas</a:t>
            </a:r>
            <a:r>
              <a:rPr dirty="0"/>
              <a:t>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rPr dirty="0"/>
              <a:t>Testes </a:t>
            </a:r>
            <a:r>
              <a:rPr dirty="0" err="1"/>
              <a:t>Despadronizados</a:t>
            </a:r>
            <a:r>
              <a:rPr dirty="0"/>
              <a:t>: </a:t>
            </a:r>
            <a:r>
              <a:rPr dirty="0" err="1"/>
              <a:t>Validação</a:t>
            </a:r>
            <a:r>
              <a:rPr dirty="0"/>
              <a:t> manual de </a:t>
            </a:r>
            <a:r>
              <a:rPr dirty="0" err="1"/>
              <a:t>conectividade</a:t>
            </a:r>
            <a:r>
              <a:rPr dirty="0"/>
              <a:t> e IP do PC </a:t>
            </a:r>
            <a:r>
              <a:rPr dirty="0" err="1"/>
              <a:t>alterado</a:t>
            </a:r>
            <a:r>
              <a:rPr dirty="0"/>
              <a:t> </a:t>
            </a:r>
            <a:r>
              <a:rPr dirty="0" err="1"/>
              <a:t>manualmente</a:t>
            </a:r>
            <a:r>
              <a:rPr dirty="0"/>
              <a:t> via </a:t>
            </a:r>
            <a:r>
              <a:rPr dirty="0" err="1"/>
              <a:t>painel</a:t>
            </a:r>
            <a:r>
              <a:rPr dirty="0"/>
              <a:t> do Windows.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120640" cy="64008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⚡ Solução com a Esteira SPARC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rPr dirty="0" err="1"/>
              <a:t>Velocidade</a:t>
            </a:r>
            <a:r>
              <a:rPr dirty="0"/>
              <a:t> Extrema: </a:t>
            </a:r>
            <a:r>
              <a:rPr dirty="0" err="1"/>
              <a:t>Provisionamento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</a:t>
            </a:r>
            <a:r>
              <a:rPr dirty="0" err="1"/>
              <a:t>concluído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 de 5 </a:t>
            </a:r>
            <a:r>
              <a:rPr dirty="0" err="1"/>
              <a:t>minutos</a:t>
            </a:r>
            <a:r>
              <a:rPr dirty="0"/>
              <a:t> com 1 </a:t>
            </a:r>
            <a:r>
              <a:rPr dirty="0" err="1"/>
              <a:t>único</a:t>
            </a:r>
            <a:r>
              <a:rPr dirty="0"/>
              <a:t> clique.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rPr dirty="0" err="1"/>
              <a:t>Detecção</a:t>
            </a:r>
            <a:r>
              <a:rPr dirty="0"/>
              <a:t> </a:t>
            </a:r>
            <a:r>
              <a:rPr dirty="0" err="1"/>
              <a:t>Inteligente</a:t>
            </a:r>
            <a:r>
              <a:rPr dirty="0"/>
              <a:t> de Senha: Quebra </a:t>
            </a:r>
            <a:r>
              <a:rPr dirty="0" err="1"/>
              <a:t>automática</a:t>
            </a:r>
            <a:r>
              <a:rPr dirty="0"/>
              <a:t> via ROMMON/</a:t>
            </a:r>
            <a:r>
              <a:rPr dirty="0" err="1"/>
              <a:t>BootWare</a:t>
            </a:r>
            <a:r>
              <a:rPr dirty="0"/>
              <a:t> se </a:t>
            </a:r>
            <a:r>
              <a:rPr dirty="0" err="1"/>
              <a:t>bloqueado</a:t>
            </a:r>
            <a:r>
              <a:rPr dirty="0"/>
              <a:t>; bypass </a:t>
            </a:r>
            <a:r>
              <a:rPr dirty="0" err="1"/>
              <a:t>direto</a:t>
            </a:r>
            <a:r>
              <a:rPr dirty="0"/>
              <a:t> se </a:t>
            </a:r>
            <a:r>
              <a:rPr dirty="0" err="1"/>
              <a:t>aberto</a:t>
            </a:r>
            <a:r>
              <a:rPr dirty="0"/>
              <a:t>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rPr dirty="0" err="1"/>
              <a:t>Servidor</a:t>
            </a:r>
            <a:r>
              <a:rPr dirty="0"/>
              <a:t> TFTP 100% </a:t>
            </a:r>
            <a:r>
              <a:rPr dirty="0" err="1"/>
              <a:t>Integrado</a:t>
            </a:r>
            <a:r>
              <a:rPr dirty="0"/>
              <a:t>: Sem </a:t>
            </a:r>
            <a:r>
              <a:rPr dirty="0" err="1"/>
              <a:t>softwares</a:t>
            </a:r>
            <a:r>
              <a:rPr dirty="0"/>
              <a:t> </a:t>
            </a:r>
            <a:r>
              <a:rPr dirty="0" err="1"/>
              <a:t>adicionais</a:t>
            </a:r>
            <a:r>
              <a:rPr dirty="0"/>
              <a:t>; streaming </a:t>
            </a:r>
            <a:r>
              <a:rPr dirty="0" err="1"/>
              <a:t>nativo</a:t>
            </a:r>
            <a:r>
              <a:rPr dirty="0"/>
              <a:t> </a:t>
            </a:r>
            <a:r>
              <a:rPr dirty="0" err="1"/>
              <a:t>embutido</a:t>
            </a:r>
            <a:r>
              <a:rPr dirty="0"/>
              <a:t> no SPARC.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rPr dirty="0" err="1"/>
              <a:t>Leitor</a:t>
            </a:r>
            <a:r>
              <a:rPr dirty="0"/>
              <a:t> </a:t>
            </a:r>
            <a:r>
              <a:rPr dirty="0" err="1"/>
              <a:t>Automático</a:t>
            </a:r>
            <a:r>
              <a:rPr dirty="0"/>
              <a:t> de </a:t>
            </a:r>
            <a:r>
              <a:rPr dirty="0" err="1"/>
              <a:t>Ficha</a:t>
            </a:r>
            <a:r>
              <a:rPr dirty="0"/>
              <a:t> SAIP: Importa PDF/TXT </a:t>
            </a:r>
            <a:r>
              <a:rPr dirty="0" err="1"/>
              <a:t>oficial</a:t>
            </a:r>
            <a:r>
              <a:rPr dirty="0"/>
              <a:t> da Claro, </a:t>
            </a:r>
            <a:r>
              <a:rPr dirty="0" err="1"/>
              <a:t>preenche</a:t>
            </a:r>
            <a:r>
              <a:rPr dirty="0"/>
              <a:t> WAN/LAN e </a:t>
            </a:r>
            <a:r>
              <a:rPr dirty="0" err="1"/>
              <a:t>calcula</a:t>
            </a:r>
            <a:r>
              <a:rPr dirty="0"/>
              <a:t> IPs de teste.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rPr dirty="0"/>
              <a:t>Auditoria &amp; Testes </a:t>
            </a:r>
            <a:r>
              <a:rPr dirty="0" err="1"/>
              <a:t>Automáticos</a:t>
            </a:r>
            <a:r>
              <a:rPr dirty="0"/>
              <a:t>: </a:t>
            </a:r>
            <a:r>
              <a:rPr dirty="0" err="1"/>
              <a:t>Ajusta</a:t>
            </a:r>
            <a:r>
              <a:rPr dirty="0"/>
              <a:t> </a:t>
            </a:r>
            <a:r>
              <a:rPr dirty="0" err="1"/>
              <a:t>placa</a:t>
            </a:r>
            <a:r>
              <a:rPr dirty="0"/>
              <a:t> de rede do </a:t>
            </a:r>
            <a:r>
              <a:rPr dirty="0" err="1"/>
              <a:t>operador</a:t>
            </a:r>
            <a:r>
              <a:rPr dirty="0"/>
              <a:t> e </a:t>
            </a:r>
            <a:r>
              <a:rPr dirty="0" err="1"/>
              <a:t>testa</a:t>
            </a:r>
            <a:r>
              <a:rPr dirty="0"/>
              <a:t> ICMP, Telnet e </a:t>
            </a:r>
            <a:r>
              <a:rPr dirty="0" err="1"/>
              <a:t>homologação</a:t>
            </a:r>
            <a:r>
              <a:rPr dirty="0"/>
              <a:t> de </a:t>
            </a:r>
            <a:r>
              <a:rPr dirty="0" err="1"/>
              <a:t>banda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ECDD3"/>
                </a:solidFill>
                <a:latin typeface="Segoe UI"/>
              </a:defRPr>
            </a:pPr>
            <a:r>
              <a:t>🔴 CLARO S.A. — ATIVAÇÃO SC · SPARC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Fluxo Operacional: As 7 Etapas da Esteira SPARC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SPARC — Sistema de Provisionamento e Ativação de Roteadores Claro  |  Contato: george.calcmann@claro.com.br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44475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444752" cy="8229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Zerar 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77440"/>
            <a:ext cx="12984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Diagnóstico de segurança. Zera via CLI se aberto ou quebra senha via ROMMON (Break/Ctrl+C) / BootWare (Ctrl+B).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463040"/>
            <a:ext cx="144475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0" y="1463040"/>
            <a:ext cx="1444752" cy="82296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Atualizar Firmware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377440"/>
            <a:ext cx="12984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Sobe IP na LAN do roteador, inicia TFTP embutido, copia imagem (.bin/.ipe), audita Flash e agenda boot.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463040"/>
            <a:ext cx="144475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0" y="1463040"/>
            <a:ext cx="1444752" cy="8229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Provisionar SAIP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2" y="2377440"/>
            <a:ext cx="12984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Aplica parâmetros do circuito: Hostname, Interfaces GE0/0 (WAN) e GE0/1 (LAN), BGP/Estático e NAT.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1463040"/>
            <a:ext cx="144475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94960" y="1463040"/>
            <a:ext cx="1444752" cy="82296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Configurar IP Teste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8112" y="2377440"/>
            <a:ext cx="12984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Configura automaticamente o IP estático e DNS (1.1.1.1 / 8.8.8.8) na placa de rede do notebook do operador.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463040"/>
            <a:ext cx="144475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49440" y="1463040"/>
            <a:ext cx="1444752" cy="8229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5. Testar ICMP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2377440"/>
            <a:ext cx="12984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Bateria de pings automáticos para o Gateway LAN e WAN com verificação de latência e perda zero.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1463040"/>
            <a:ext cx="144475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03920" y="1463040"/>
            <a:ext cx="1444752" cy="82296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6. Testar Telnet/SSH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2377440"/>
            <a:ext cx="12984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Validação de gerência remota na porta 23/22 com confirmação de credenciais ativas do roteador.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1463040"/>
            <a:ext cx="144475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058400" y="1463040"/>
            <a:ext cx="1444752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7. Homologar Banda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1552" y="2377440"/>
            <a:ext cx="12984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Atalhos diretos e testes de vazão do circuito para validação final da velocidade contratada.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ECDD3"/>
                </a:solidFill>
                <a:latin typeface="Segoe UI"/>
              </a:defRPr>
            </a:pPr>
            <a:r>
              <a:t>🔴 CLARO S.A. — ATIVAÇÃO SC · SPARC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Compatibilidade de Hardware e Arquitetura do 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SPARC — Sistema de Provisionamento e Ativação de Roteadores Claro  |  Contato: george.calcmann@claro.com.br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120640" cy="54864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🖧 </a:t>
            </a:r>
            <a:r>
              <a:rPr dirty="0" err="1"/>
              <a:t>Famílias</a:t>
            </a:r>
            <a:r>
              <a:rPr dirty="0"/>
              <a:t> de </a:t>
            </a:r>
            <a:r>
              <a:rPr dirty="0" err="1"/>
              <a:t>Roteadores</a:t>
            </a:r>
            <a:r>
              <a:rPr dirty="0"/>
              <a:t> </a:t>
            </a:r>
            <a:r>
              <a:rPr dirty="0" err="1"/>
              <a:t>Suportadas</a:t>
            </a:r>
            <a:r>
              <a:rPr lang="pt-BR" dirty="0"/>
              <a:t> – Fase 1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Cisco Série 1900 / 1905 / 1921 / 1941: Interceptação de boot via Break serial em 9600 baud, recuperação ROMMON (confreg 0x2142) e restauração 0x2102.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Cisco Série 900 / C921-4P: Interrupção de inicialização via Ctrl+C contínuo em 9600 baud.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Cisco Tradicional / ISR: Compatibilidade ampla com Break elétrico e console IOS padrão.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HPE MSR 954 / 958 (Comware 7): Interceptação contínua de BootWare via Ctrl+B a 9600 baud, bypass de autenticação e recuperação TFTP de pacotes .IPE.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Switches Cisco Catalyst: Procedimento assistido com botão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120640" cy="54864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⚙️ Stack Tecnológica &amp; Engenharia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Motor em .NET 8 Multiplataforma: Alta performance assíncrona (C# 12 / async-await) com compatibilidade Windows e Android.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Controle Serial Resiliente: Driver UART avançado com temporização DTR/RTS (150ms), tolerância a logs syslog e paginação automática (--More-- / length 0).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Embedded TFTP Server: Servidor TFTP RFC 1350/2347 nativo integrado no próprio executável, eliminando portas bloqueadas ou softwares externos.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Motor Regex Multilinhas: Reconhecimento retroativo de prompts em até 6 linhas recentes, imune a interferências de log assíncronas.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Segurança e Integridade: 39 testes unitários automatizados cobrindo todos os fluxos de hardware.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ECDD3"/>
                </a:solidFill>
                <a:latin typeface="Segoe UI"/>
              </a:defRPr>
            </a:pPr>
            <a:r>
              <a:t>🔴 CLARO S.A. — ATIVAÇÃO SC · SPARC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Impacto Operacional e Métricas de Produtividade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SPARC — Sistema de Provisionamento e Ativação de Roteadores Claro  |  Contato: george.calcmann@claro.com.br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A291C"/>
                </a:solidFill>
                <a:latin typeface="Segoe UI"/>
              </a:defRPr>
            </a:pPr>
            <a:r>
              <a:t>-88%</a:t>
            </a:r>
          </a:p>
          <a:p>
            <a:pPr algn="ctr">
              <a:defRPr sz="1100">
                <a:solidFill>
                  <a:srgbClr val="1E293B"/>
                </a:solidFill>
                <a:latin typeface="Segoe UI"/>
              </a:defRPr>
            </a:pPr>
            <a:r>
              <a:t>Redução no Tempo de Provisionamento</a:t>
            </a:r>
            <a:br/>
            <a:r>
              <a:t>(De ~40 min para &lt; 5 min por roteador)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2918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  <a:latin typeface="Segoe UI"/>
              </a:defRPr>
            </a:pPr>
            <a:r>
              <a:t>100%</a:t>
            </a:r>
          </a:p>
          <a:p>
            <a:pPr algn="ctr">
              <a:defRPr sz="1100">
                <a:solidFill>
                  <a:srgbClr val="1E293B"/>
                </a:solidFill>
                <a:latin typeface="Segoe UI"/>
              </a:defRPr>
            </a:pPr>
            <a:r>
              <a:t>Aderência aos Padrões Claro SAIP</a:t>
            </a:r>
            <a:br/>
            <a:r>
              <a:t>(Zero falhas de digitação em IPs e Rotas)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2918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55448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81337"/>
                </a:solidFill>
                <a:latin typeface="Segoe UI"/>
              </a:defRPr>
            </a:pPr>
            <a:r>
              <a:t>1 App</a:t>
            </a:r>
          </a:p>
          <a:p>
            <a:pPr algn="ctr">
              <a:defRPr sz="1100">
                <a:solidFill>
                  <a:srgbClr val="1E293B"/>
                </a:solidFill>
                <a:latin typeface="Segoe UI"/>
              </a:defRPr>
            </a:pPr>
            <a:r>
              <a:t>Solução Tudo-em-Um Portátil</a:t>
            </a:r>
            <a:br/>
            <a:r>
              <a:t>(Substitui PuTTY, TFTPD32 e scripts dispersos)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607040" cy="2286000"/>
          </a:xfrm>
          <a:prstGeom prst="round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💡 Benefícios Estratégicos para a Operação Claro S.A.:</a:t>
            </a:r>
          </a:p>
          <a:p>
            <a:pPr>
              <a:spcBef>
                <a:spcPts val="600"/>
              </a:spcBef>
              <a:defRPr sz="1050">
                <a:solidFill>
                  <a:srgbClr val="FEE2E2"/>
                </a:solidFill>
                <a:latin typeface="Segoe UI"/>
              </a:defRPr>
            </a:pPr>
            <a:r>
              <a:t>• Escalabilidade de Ativação: Capacidade de preparar dezenas de roteadores por técnico diariamente sem estresse operacional.</a:t>
            </a:r>
          </a:p>
          <a:p>
            <a:pPr>
              <a:spcBef>
                <a:spcPts val="600"/>
              </a:spcBef>
              <a:defRPr sz="1050">
                <a:solidFill>
                  <a:srgbClr val="FEE2E2"/>
                </a:solidFill>
                <a:latin typeface="Segoe UI"/>
              </a:defRPr>
            </a:pPr>
            <a:r>
              <a:t>• Prontidão para o Técnico de Campo: O equipamento sai da bancada 100% configurado, testado e com gerência homologada.</a:t>
            </a:r>
          </a:p>
          <a:p>
            <a:pPr>
              <a:spcBef>
                <a:spcPts val="600"/>
              </a:spcBef>
              <a:defRPr sz="1050">
                <a:solidFill>
                  <a:srgbClr val="FEE2E2"/>
                </a:solidFill>
                <a:latin typeface="Segoe UI"/>
              </a:defRPr>
            </a:pPr>
            <a:r>
              <a:t>• Facilidade de Uso: Manual ilustrado integrado e interface visual com indicação em tempo real de progresso e 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ECDD3"/>
                </a:solidFill>
                <a:latin typeface="Segoe UI"/>
              </a:defRPr>
            </a:pPr>
            <a:r>
              <a:t>🔴 CLARO S.A. — ATIVAÇÃO SC · SPARC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Próximos Passos e Conclusão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SPARC — Sistema de Provisionamento e Ativação de Roteadores Claro  |  Contato: george.calcmann@claro.com.br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120640" cy="54864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🚀 Roadmap de Evolução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Integração Direta com API SAIP: Importação online de fichas de circuito diretamente dos sistemas corporativos da Claro.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Expansão de Fabricantes: Inclusão de perfis para switches Datacom, roteadores Huawei e equipamentos ópticos.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Geração Automática de Laudo de Entrega: Relatório PDF gerado no final com log de auditoria, número de série e velocidade homologada.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Distribuição Portátil em Pendrive: Executável único (.exe) que dispensa instalação de dependências no Windows do operador.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120640" cy="54864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✉️ Contatos &amp; Informações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75488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337"/>
                </a:solidFill>
                <a:latin typeface="Segoe UI"/>
              </a:defRPr>
            </a:pPr>
            <a:r>
              <a:rPr dirty="0"/>
              <a:t>SPARC — Sistema de </a:t>
            </a:r>
            <a:r>
              <a:rPr dirty="0" err="1"/>
              <a:t>Provisionamento</a:t>
            </a:r>
            <a:r>
              <a:rPr dirty="0"/>
              <a:t> e </a:t>
            </a:r>
            <a:r>
              <a:rPr dirty="0" err="1"/>
              <a:t>Ativação</a:t>
            </a:r>
            <a:r>
              <a:rPr dirty="0"/>
              <a:t> de </a:t>
            </a:r>
            <a:r>
              <a:rPr dirty="0" err="1"/>
              <a:t>Roteadores</a:t>
            </a:r>
            <a:r>
              <a:rPr dirty="0"/>
              <a:t> Claro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rPr dirty="0"/>
              <a:t>Regional: Claro S.A. — </a:t>
            </a:r>
            <a:r>
              <a:rPr dirty="0" err="1"/>
              <a:t>Ativação</a:t>
            </a:r>
            <a:r>
              <a:rPr dirty="0"/>
              <a:t> SC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rPr dirty="0" err="1"/>
              <a:t>Responsável</a:t>
            </a:r>
            <a:r>
              <a:rPr dirty="0"/>
              <a:t> Técnico: George </a:t>
            </a:r>
            <a:r>
              <a:rPr lang="pt-BR" dirty="0"/>
              <a:t>Luís </a:t>
            </a:r>
            <a:r>
              <a:rPr dirty="0" err="1"/>
              <a:t>Calcmann</a:t>
            </a:r>
            <a:endParaRPr dirty="0"/>
          </a:p>
          <a:p>
            <a:pPr>
              <a:spcBef>
                <a:spcPts val="400"/>
              </a:spcBef>
              <a:defRPr sz="1100" b="1">
                <a:solidFill>
                  <a:srgbClr val="DA291C"/>
                </a:solidFill>
                <a:latin typeface="Segoe UI"/>
              </a:defRPr>
            </a:pPr>
            <a:r>
              <a:rPr dirty="0"/>
              <a:t>E-mail: george.calcmann@claro.com.br</a:t>
            </a:r>
          </a:p>
          <a:p>
            <a:pPr>
              <a:spcBef>
                <a:spcPts val="1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rPr dirty="0" err="1"/>
              <a:t>Documentação</a:t>
            </a:r>
            <a:r>
              <a:rPr dirty="0"/>
              <a:t> &amp; Manual: </a:t>
            </a:r>
            <a:r>
              <a:rPr dirty="0" err="1"/>
              <a:t>Disponível</a:t>
            </a:r>
            <a:r>
              <a:rPr dirty="0"/>
              <a:t> no </a:t>
            </a:r>
            <a:r>
              <a:rPr dirty="0" err="1"/>
              <a:t>botão</a:t>
            </a:r>
            <a:r>
              <a:rPr dirty="0"/>
              <a:t> 'Manual do </a:t>
            </a:r>
            <a:r>
              <a:rPr dirty="0" err="1"/>
              <a:t>Operador</a:t>
            </a:r>
            <a:r>
              <a:rPr dirty="0"/>
              <a:t> (PDF)' </a:t>
            </a:r>
            <a:r>
              <a:rPr dirty="0" err="1"/>
              <a:t>na</a:t>
            </a:r>
            <a:r>
              <a:rPr dirty="0"/>
              <a:t> barra inferior da </a:t>
            </a:r>
            <a:r>
              <a:rPr dirty="0" err="1"/>
              <a:t>aplicação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1157</Words>
  <Application>Microsoft Office PowerPoint</Application>
  <PresentationFormat>Widescreen</PresentationFormat>
  <Paragraphs>79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2026-08-24T22:32:03Z</dcterms:modified>
  <cp:category/>
</cp:coreProperties>
</file>