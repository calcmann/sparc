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Objetivo da apresentação: demonstrar à liderança executiva que o SPARC resolve o processo de ponta a ponta. Além de zerar licenças e servidores, traz triagem prévia de hardware, funciona 100% offline e permite desonerar contratos de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Mensagem executiva: o Panteon fica de mãos atadas quando a rede externa oscila. O SPARC desacopla a preparação: faz tudo offline na base com hardware testado, e ainda permite rodar online pelo link se for a opção escolhida.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Explicar como a modularidade elimina o risco de campo: equipamento já sai testado (troca prévia de hardware) e o terceiro não mexe em configuração sensível, permitindo abater o valor do item de instalação no contrato.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Quatro alavancas concretas de economia: redução do contrato de terceiros, zero licenças, zero servidores novos e corte de visitas perdidas por hardware com defeito ou atraso de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Funcionalidades descritas em termos de valor: leitura automática, triagem de hardware na base, repositório offline, laudo PDF e suporte multiplataforma.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Destacar: o SPARC não perde nada para o Panteon (faz o modo online pelo link igualzinho se necessário), mas oferece o que o Panteon não consegue: operação offline, triagem de hardware na base e desoneração contratual.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 o link tiver qualquer atraso na entrega ou falha de porta na central, o Panteon trava o técnico no cliente. O SPARC permite que a visita física ocorra sem perda de tempo porque o roteador já está 100% preparado.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Visão estratégica para liderança: capacidade de trabalhar offline, triagem antecipada de hardware, custo zero de licenças e alavancagem para renegociação de contratos de terceiros.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 lacunas não são limitações da arquitetura. São liberações operacionais e de insumo interno.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Encerramento reforçando a soberania técnica e a economia em escala nacional.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51560" y="457200"/>
            <a:ext cx="3108960" cy="384048"/>
          </a:xfrm>
          <a:prstGeom prst="roundRect">
            <a:avLst>
              <a:gd name="adj" fmla="val 50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🔴  CLARO S.A. — ATIVAÇÃO SC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960120"/>
            <a:ext cx="82296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5400" b="1" i="0">
                <a:solidFill>
                  <a:srgbClr val="FFFFFF"/>
                </a:solidFill>
                <a:latin typeface="Segoe UI"/>
              </a:rPr>
              <a:t>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100584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Decisão Estratégica: Eficiência Operacional, Modularidade e Redução de Custos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697480"/>
            <a:ext cx="6766560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>Como simplificar a operação de campo, economizar recursos contratuais e blindar a entrega contra falhas?</a:t>
            </a:r>
          </a:p>
          <a:p>
            <a:pPr algn="l">
              <a:spcAft>
                <a:spcPts val="500"/>
              </a:spcAft>
            </a:pPr>
            <a:r>
              <a:rPr sz="1450" b="0" i="0">
                <a:solidFill>
                  <a:srgbClr val="FFFFFF"/>
                </a:solidFill>
                <a:latin typeface="Segoe UI"/>
              </a:rPr>
              <a:t/>
            </a:r>
          </a:p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F9D5DC"/>
                </a:solidFill>
                <a:latin typeface="Segoe UI"/>
              </a:rPr>
              <a:t>✔ </a:t>
            </a:r>
            <a:r>
              <a:rPr sz="1450" b="1" i="0">
                <a:solidFill>
                  <a:srgbClr val="FFFFFF"/>
                </a:solidFill>
                <a:latin typeface="Segoe UI"/>
              </a:rPr>
              <a:t>Redução de Custos Contratuais: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Roteador sai pronto da base Claro, permitindo abater item pago a terceiros.</a:t>
            </a:r>
          </a:p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F9D5DC"/>
                </a:solidFill>
                <a:latin typeface="Segoe UI"/>
              </a:rPr>
              <a:t>✔ </a:t>
            </a:r>
            <a:r>
              <a:rPr sz="1450" b="1" i="0">
                <a:solidFill>
                  <a:srgbClr val="FFFFFF"/>
                </a:solidFill>
                <a:latin typeface="Segoe UI"/>
              </a:rPr>
              <a:t>Triagem Prévia de Hardware: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Equipamento já sai testado na base; defeitos são substituídos antes da visita.</a:t>
            </a:r>
          </a:p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F9D5DC"/>
                </a:solidFill>
                <a:latin typeface="Segoe UI"/>
              </a:rPr>
              <a:t>✔ </a:t>
            </a:r>
            <a:r>
              <a:rPr sz="1450" b="1" i="0">
                <a:solidFill>
                  <a:srgbClr val="FFFFFF"/>
                </a:solidFill>
                <a:latin typeface="Segoe UI"/>
              </a:rPr>
              <a:t>Operação 100% Offline (Sem Dependência de Link):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Panteon trava se o link oscilar; SPARC entrega pronto e suporta ambos os modos.</a:t>
            </a:r>
          </a:p>
          <a:p>
            <a:pPr algn="l">
              <a:spcAft>
                <a:spcPts val="500"/>
              </a:spcAft>
            </a:pPr>
            <a:r>
              <a:rPr sz="1450" b="1" i="0">
                <a:solidFill>
                  <a:srgbClr val="F9D5DC"/>
                </a:solidFill>
                <a:latin typeface="Segoe UI"/>
              </a:rPr>
              <a:t>✔ </a:t>
            </a:r>
            <a:r>
              <a:rPr sz="1450" b="1" i="0">
                <a:solidFill>
                  <a:srgbClr val="FFFFFF"/>
                </a:solidFill>
                <a:latin typeface="Segoe UI"/>
              </a:rPr>
              <a:t>Zero Investimento em Licenças e Servidores: </a:t>
            </a:r>
            <a:r>
              <a:rPr sz="1450" b="0" i="0">
                <a:solidFill>
                  <a:srgbClr val="FFFFFF"/>
                </a:solidFill>
                <a:latin typeface="Segoe UI"/>
              </a:rPr>
              <a:t>Ativo 100% interno Claro, sem Capex/Opex de fornecedor externo engessado.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2834640"/>
            <a:ext cx="310896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parc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3063240"/>
            <a:ext cx="2468880" cy="18836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1560" y="6126480"/>
            <a:ext cx="10058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F9D5DC"/>
                </a:solidFill>
                <a:latin typeface="Segoe UI"/>
              </a:rPr>
              <a:t>Instalação Empresarial - Ativação  |  Regional Santa Catarina  |  george.calcmann@claro.com.br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Resumo Executivo: A Decisão Estratégica em 30 Segundos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41732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417320"/>
            <a:ext cx="109728" cy="2057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55448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881337"/>
                </a:solidFill>
                <a:latin typeface="Segoe UI"/>
              </a:rPr>
              <a:t>ECONOMIA EM CONTRATOS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29968"/>
            <a:ext cx="2971800" cy="13533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Segoe UI"/>
              </a:rPr>
              <a:t>Ao pré-configurar o roteador na base com a Assistência Técnica própria, retiramos a complexidade do terceiro e renegociamos o item de configuração pago por 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41732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417320"/>
            <a:ext cx="109728" cy="2057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881337"/>
                </a:solidFill>
                <a:latin typeface="Segoe UI"/>
              </a:rPr>
              <a:t>HARDWARE TESTADO &amp; OFFLINE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029968"/>
            <a:ext cx="2971800" cy="13533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Segoe UI"/>
              </a:rPr>
              <a:t>Testa hardware na base (troca prévia se houver defeito). Opera 100% offline em bancada sem travar se o link do cliente estiver fora (e também opera online se desejado).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417320"/>
            <a:ext cx="3383280" cy="2057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80" y="1417320"/>
            <a:ext cx="109728" cy="20574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54480"/>
            <a:ext cx="301752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50" b="1" i="0">
                <a:solidFill>
                  <a:srgbClr val="881337"/>
                </a:solidFill>
                <a:latin typeface="Segoe UI"/>
              </a:rPr>
              <a:t>ZERO LICENÇAS E SERVIDORES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029968"/>
            <a:ext cx="2971800" cy="135331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1E293B"/>
                </a:solidFill>
                <a:latin typeface="Segoe UI"/>
              </a:rPr>
              <a:t>Sem taxas de licença por usuário, sem renovações bienais e sem compra de servidores dedicados. Código de propriedade da Claro pronto para escala imediata.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703320"/>
            <a:ext cx="525780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794760"/>
            <a:ext cx="4846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D97706"/>
                </a:solidFill>
                <a:latin typeface="Segoe UI"/>
              </a:rPr>
              <a:t>O Gargalo da Solução Externa (Panteon)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251960"/>
            <a:ext cx="4846320" cy="18745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Totalmente Dependente de Link Online: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se a WAN/fibra tiver qualquer oscilação ou atraso, o Panteon trava e não consegue sequer iniciar o processo.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Sem Triagem Prévia de Hardware: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descobre defeito físico do roteador na frente do cliente, gerando visita improdutiva.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Custo Recorrente e Servidores: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licenças proprietárias por usuário ou renovações bienais, além de exigir +10 servidores internos.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E293B"/>
                </a:solidFill>
                <a:latin typeface="Segoe UI"/>
              </a:rPr>
              <a:t>Engessamento Operacional: </a:t>
            </a:r>
            <a:r>
              <a:rPr sz="1200" b="0" i="0">
                <a:solidFill>
                  <a:srgbClr val="1E293B"/>
                </a:solidFill>
                <a:latin typeface="Segoe UI"/>
              </a:rPr>
              <a:t>obriga o técnico terceiro a configurar no campo, encarecendo o contrato de instalação.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703320"/>
            <a:ext cx="5239512" cy="2514600"/>
          </a:xfrm>
          <a:prstGeom prst="roundRect">
            <a:avLst>
              <a:gd name="adj" fmla="val 8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3794760"/>
            <a:ext cx="48463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9D5DC"/>
                </a:solidFill>
                <a:latin typeface="Segoe UI"/>
              </a:rPr>
              <a:t>Nossa Recomendação Prática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224528"/>
            <a:ext cx="4846320" cy="18745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Adotar o modelo SPARC Full na Assistência Técnica própria para entregar roteadores 100% testados.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Disponibilizar o 'SPARC Tester' para os parceiros terceirizados apenas validarem a entrega física/velocidade.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3.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Renegociar o valor do item de configuração de roteador nos contratos das prestadoras de serviço.</a:t>
            </a:r>
          </a:p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F9D5DC"/>
                </a:solidFill>
                <a:latin typeface="Segoe UI"/>
              </a:rPr>
              <a:t>Resultado: </a:t>
            </a:r>
            <a:r>
              <a:rPr sz="1200" b="0" i="0">
                <a:solidFill>
                  <a:srgbClr val="FFFFFF"/>
                </a:solidFill>
                <a:latin typeface="Segoe UI"/>
              </a:rPr>
              <a:t>zero visita perdida por defeito de hardware, ativação ágil e economia recorrente.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Modularidade Operacional: O Modelo SPARC Full × SPARC Tester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25880"/>
            <a:ext cx="525780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8813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25880"/>
            <a:ext cx="5257800" cy="54864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1. BASE CLARO: SPARC Full (Técnicos Próprios)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Técnicos da Assistência Técnica interna da Claro.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Onde: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Bancada / Laboratório na base regional, 100% OFFLINE (sem depender de link).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DA291C"/>
                </a:solidFill>
                <a:latin typeface="Segoe UI"/>
              </a:rPr>
              <a:t>Triagem de Hardware: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Testa portas, boot e placa. Se houver falha, substitui o equipamento na base antes de ir para a rua.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O que faz: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Lê o SAIP automaticamente, atualiza o firmware homologado e aplica a configuração completa.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Tempo: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Menos de 10 minutos por lote de roteadores.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Resultado: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Roteador sai 100% pronto, testado e etiquetado ('Plug &amp; Play').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325880"/>
            <a:ext cx="5257800" cy="3886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99632" y="1325880"/>
            <a:ext cx="5257800" cy="5486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2. CAMPO: SPARC Tester (Técnicos Terceirizados)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1965960"/>
            <a:ext cx="4800600" cy="3154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0284C7"/>
                </a:solidFill>
                <a:latin typeface="Segoe UI"/>
              </a:rPr>
              <a:t>Quem opera: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Empresas terceiras responsáveis pela fixação e instalação do acesso.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DA291C"/>
                </a:solidFill>
                <a:latin typeface="Segoe UI"/>
              </a:rPr>
              <a:t>O que muda: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Retira do terceiro o acesso e a responsabilidade de configurar o roteador.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O que é o SPARC Tester: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Aplicativo simplificado e blindado para celular ou notebook, focado na entrega.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E293B"/>
                </a:solidFill>
                <a:latin typeface="Segoe UI"/>
              </a:rPr>
              <a:t>O que ele faz: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Checa porta de rede, valida link quando o circuito sobe, afere velocidade com Speedtest e gera laudo PDF.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Versatilidade Híbrida: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Permite também ativar online pelo link do cliente exatamente como o Panteon, se desejado.</a:t>
            </a:r>
          </a:p>
          <a:p>
            <a:pPr algn="l">
              <a:spcAft>
                <a:spcPts val="700"/>
              </a:spcAft>
            </a:pPr>
            <a:r>
              <a:rPr sz="1250" b="1" i="0">
                <a:solidFill>
                  <a:srgbClr val="16A34A"/>
                </a:solidFill>
                <a:latin typeface="Segoe UI"/>
              </a:rPr>
              <a:t>Impacto: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Zero visita perdida por equipamento defeituoso e zero erro de configuração.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349240"/>
            <a:ext cx="10725912" cy="96012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5440680"/>
            <a:ext cx="10268712" cy="7772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6A34A"/>
                </a:solidFill>
                <a:latin typeface="Segoe UI"/>
              </a:rPr>
              <a:t>💰 Vantagem Financeira Estratégica: 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Como o parceiro NÃO precisa mais configurar o roteador no cliente, a Claro ganha respaldo direto para </a:t>
            </a:r>
            <a:r>
              <a:rPr sz="1250" b="1" i="0">
                <a:solidFill>
                  <a:srgbClr val="1E293B"/>
                </a:solidFill>
                <a:latin typeface="Segoe UI"/>
              </a:rPr>
              <a:t>renegociar e abater o item contratual de configuração de CPE</a:t>
            </a:r>
            <a:r>
              <a:rPr sz="1250" b="0" i="0">
                <a:solidFill>
                  <a:srgbClr val="1E293B"/>
                </a:solidFill>
                <a:latin typeface="Segoe UI"/>
              </a:rPr>
              <a:t>. Além disso, a substituição prévia na base elimina o custo de visitas improdutivas por hardware defeituoso!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Impacto Financeiro Direto: Onde o SPARC Gera Economia para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371600"/>
            <a:ext cx="525780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600200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81337"/>
                </a:solidFill>
                <a:latin typeface="Segoe UI"/>
              </a:rPr>
              <a:t>1. Redução Contratual de Terceiros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57400"/>
            <a:ext cx="470916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Eliminação do custo de 'configuração de CPE' nas ordens de serviço executadas por parceiras externas.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92608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Economia por OS em escala nacional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9632" y="1371600"/>
            <a:ext cx="525780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73952" y="1600200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81337"/>
                </a:solidFill>
                <a:latin typeface="Segoe UI"/>
              </a:rPr>
              <a:t>2. Custo Zero com Licenças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2057400"/>
            <a:ext cx="470916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Panteon exige licenças por usuário ou contratos bienais caros. O SPARC é ativo de propriedade da Claro: R$ 0.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73952" y="292608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100% de economia em licenças de software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3749039"/>
            <a:ext cx="525780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3977639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81337"/>
                </a:solidFill>
                <a:latin typeface="Segoe UI"/>
              </a:rPr>
              <a:t>3. Zero Investimento em Servidores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34840"/>
            <a:ext cx="470916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Panteon exige estrutura própria e expansão para 10+ servidores dedicados. O SPARC roda localmente sem novos servidores.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" y="5303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Evita Capex e Opex de infraestrutura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9632" y="3749039"/>
            <a:ext cx="525780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99632" y="3749039"/>
            <a:ext cx="5257800" cy="10972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73952" y="3977639"/>
            <a:ext cx="4709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81337"/>
                </a:solidFill>
                <a:latin typeface="Segoe UI"/>
              </a:rPr>
              <a:t>4. Eliminação de Visitas Improdutivas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4434840"/>
            <a:ext cx="470916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E293B"/>
                </a:solidFill>
                <a:latin typeface="Segoe UI"/>
              </a:rPr>
              <a:t>Como o equipamento já é testado na base, elimina visitas perdidas por defeito de hardware ou link instável.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5303520"/>
            <a:ext cx="4709160" cy="347472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 Queda drástica de retrabalho e revisitas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SPARC Hoje: A Ferramenta Prática que Já Transforma o Campo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9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6304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-88%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2140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Tempo de Ativação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50592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 ~50 min para &lt; 10 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47288" y="13716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9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6304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47288" y="212140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Leitura Automática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450592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Zero digitação manual do SAIP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6" y="13716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9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63056" y="146304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63056" y="212140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Operação Offline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450592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Bancada sem depender de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78824" y="1371600"/>
            <a:ext cx="251460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F9D5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78824" y="1463040"/>
            <a:ext cx="2514600" cy="6400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DA291C"/>
                </a:solidFill>
                <a:latin typeface="Segoe U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78824" y="2121408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 i="0">
                <a:solidFill>
                  <a:srgbClr val="1E293B"/>
                </a:solidFill>
                <a:latin typeface="Segoe UI"/>
              </a:rPr>
              <a:t>Plataformas Nativas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8824" y="2450592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Windows (.exe) + Android (.apk)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15468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26440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📄 Leitor Inteligente do SAIP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657600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Extrai parâmetros diretamente de PDFs/TXTs da Claro. Sem digitação e sem margem para erro humano.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15468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326440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🧰 Bancada &amp; Triagem de Hardware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6280" y="3657600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Testa portas, memória e boot na base Claro. Substitui roteador com defeito antes de ir ao cliente.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955280" y="315468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326440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📦 Repositório Offline Embarcado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60" y="3657600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Mantém firmwares homologados acessíveis localmente para gravação imediata sem depender de internet.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31520" y="466344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🧪 Testes e Certidão em PDF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166359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Valida internet (Speedtest) e circuito (Y.1564), gerando laudo formal na hora para anexar à OS.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343400" y="466344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628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🔌 Conexão Serial + Cabo de Rede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6280" y="5166359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Trabalha com cabo console e porta Ethernet simultaneamente pelo celular ou notebook.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955280" y="4663440"/>
            <a:ext cx="3383280" cy="135331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4773168"/>
            <a:ext cx="301752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881337"/>
                </a:solidFill>
                <a:latin typeface="Segoe UI"/>
              </a:rPr>
              <a:t>🛡️ Gestão e Controle Seguro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5166359"/>
            <a:ext cx="3017520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Ativação com proteção criptográfica individual vinculada ao dispositivo do técnico.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Comparativo Objetivo: SPARC × Panteon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261872"/>
            <a:ext cx="3566160" cy="347472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Critério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61872"/>
            <a:ext cx="3931920" cy="347472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SPARC (Inovação Interna)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1261872"/>
            <a:ext cx="3227832" cy="347472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Panteon (Fornecedor Externo)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1609343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1609343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Investimento em Licenças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36775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Zero — Propriedade interna Claro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02752" y="1636775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Alto — Licenças vitalícias ou bienais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2020824"/>
            <a:ext cx="1072591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2082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Redução de Custo Contratual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048255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Sim — Permite modelo SPARC Tester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2048255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Não — Mantém terceiro configurando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2432303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2432303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Tolerância a Link Fora do Ar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2459735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100% Offline — Roteador preparado na base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02752" y="2459735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Trava — Exige link 100% online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2843784"/>
            <a:ext cx="1072591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84378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Triagem Prévia de Hardware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2" y="2871215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Sim — Substituição na base antes da visita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02752" y="2871215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Não — Descobre falha na frente do cliente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3255263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255263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Modo Online pelo Link do Cliente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70832" y="3282695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Sim — Funciona igual ao Panteon se desejado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02752" y="3282695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Sim — Único modo suportado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3666744"/>
            <a:ext cx="1072591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" y="366674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Necessidade de Servidores Novos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70832" y="369417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Zero — Processamento no dispositivo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02752" y="369417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Exige 1 + expansão para 10 servidores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4078224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407822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Plataformas Suportadas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70832" y="410565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Windows + Android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02752" y="410565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Somente Android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1520" y="4489704"/>
            <a:ext cx="1072591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48970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Interface de Teste de Campo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70832" y="451713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Serial CLI + Cabo de Rede (Ethernet)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02752" y="451713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Somente Serial CLI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31520" y="4901183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4901183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Homologação da Entrega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70832" y="492861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Speedtest + Y.1564 com Laudo PDF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302752" y="492861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97706"/>
                </a:solidFill>
                <a:latin typeface="Segoe UI"/>
              </a:rPr>
              <a:t>◐  Exige servidores internos dedicados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5312664"/>
            <a:ext cx="10725912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531266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Disponibilidade Operacional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370832" y="534009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Imediata (Beta em uso na Regional)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302752" y="534009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A291C"/>
                </a:solidFill>
                <a:latin typeface="Segoe UI"/>
              </a:rPr>
              <a:t>✖  Piloto travado em aprovação financeira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31520" y="5724144"/>
            <a:ext cx="10725912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5724144"/>
            <a:ext cx="3429000" cy="4114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E293B"/>
                </a:solidFill>
                <a:latin typeface="Segoe UI"/>
              </a:rPr>
              <a:t>Integração com APIs Claro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370832" y="5751576"/>
            <a:ext cx="3785615" cy="356616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D97706"/>
                </a:solidFill>
                <a:latin typeface="Segoe UI"/>
              </a:rPr>
              <a:t>◐  Em roadmap (tecnologia já modular)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302752" y="5751576"/>
            <a:ext cx="3081527" cy="356616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</a:pPr>
            <a:r>
              <a:rPr sz="1050" b="1" i="0">
                <a:solidFill>
                  <a:srgbClr val="16A34A"/>
                </a:solidFill>
                <a:latin typeface="Segoe UI"/>
              </a:rPr>
              <a:t>✔  Sim (já homologado)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1520" y="5897880"/>
            <a:ext cx="4389120" cy="347472"/>
          </a:xfrm>
          <a:prstGeom prst="roundRect">
            <a:avLst>
              <a:gd name="adj" fmla="val 50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Segoe UI"/>
              </a:rPr>
              <a:t>Vantagens Comerciais/Operacionais:  SPARC 10  ×  2  Panteon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0" y="5897880"/>
            <a:ext cx="621792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✔ Atende com excelência   ◐ Em andamento/Depende de insumo   ✖ Não atende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Flexibilidade de Ativação: Onde Cada Solução Funciona na Prática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37160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481328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🌐 Link Ativo no Cliente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965960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Circuito online: baixa firmware e valida direto pelo link (igual ao Panteon).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9718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4728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Panteon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137160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4448" y="1481328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🧰 Bancada na Base (Sem Link)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1965960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Equipamento testado e preparado antes da visita por técnicos Claro. Roteador sai pronto.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30168" y="29718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30168" y="344728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6" y="137160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0216" y="1481328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📲 Atualização pelo Dispositivo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1965960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Técnico transfere firmware do próprio celular/notebook quando cliente não tem rede.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29718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45936" y="344728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78824" y="1371600"/>
            <a:ext cx="2514600" cy="2651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15984" y="1481328"/>
            <a:ext cx="22860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🔴 Link Instável ou com Atraso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1965960"/>
            <a:ext cx="2286000" cy="8686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Segoe UI"/>
              </a:rPr>
              <a:t>Panteon TRAVA totalmente. O SPARC entrega o roteador pronto; sobe assim que a rede normalizar.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61704" y="2971800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6A34A"/>
                </a:solidFill>
                <a:latin typeface="Segoe UI"/>
              </a:rPr>
              <a:t>✔  SPARC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61704" y="3447288"/>
            <a:ext cx="2148840" cy="36576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DA291C"/>
                </a:solidFill>
                <a:latin typeface="Segoe UI"/>
              </a:rPr>
              <a:t>✖  Panteon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251960"/>
            <a:ext cx="54864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881337"/>
                </a:solidFill>
                <a:latin typeface="Segoe UI"/>
              </a:rPr>
              <a:t>Compatibilidade e Meios de Conexão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6634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Cabo Console (Serial)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5166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" y="55321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Panteon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447288" y="46634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47288" y="475488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Cabo de Rede (Ethernet)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30168" y="5166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630168" y="55321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DA291C"/>
                </a:solidFill>
                <a:latin typeface="Segoe UI"/>
              </a:rPr>
              <a:t>✖ Panteon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6" y="46634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63056" y="475488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Celular / Tablet (Android)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5166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45936" y="55321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Panteon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78824" y="4663440"/>
            <a:ext cx="2514600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78824" y="4754880"/>
            <a:ext cx="251460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E293B"/>
                </a:solidFill>
                <a:latin typeface="Segoe UI"/>
              </a:rPr>
              <a:t>Notebook / PC (Windows)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61704" y="516636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✔ SPARC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061704" y="5532120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DA291C"/>
                </a:solidFill>
                <a:latin typeface="Segoe UI"/>
              </a:rPr>
              <a:t>✖ Panteon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Matriz Estratégica: Inovação Interna (SPARC) vs. Fornecedor Externo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01168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Dimensão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325880"/>
            <a:ext cx="329184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SPARC (Interno Claro)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325880"/>
            <a:ext cx="3291840" cy="384048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Fornecedor Externo (Panteon)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0" y="1325880"/>
            <a:ext cx="2130552" cy="384048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250" b="1" i="0">
                <a:solidFill>
                  <a:srgbClr val="FFFFFF"/>
                </a:solidFill>
                <a:latin typeface="Segoe UI"/>
              </a:rPr>
              <a:t>Impacto no Negócio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1709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Velocidade &amp; Resiliência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Funciona 100% offline em bancada ou online pelo link. Evolução contínua sem depender de fornecedor externo.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09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Depende obrigatoriamente de link ativo na visita e fila de suporte do fornecedor externo.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1709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Zero paralisação por oscilação de rede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52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852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Flexibilidade Orçamentária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3464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Zero licenças e zero servidores dedicados. Capacidade de modular (SPARC Full vs SPARC Tester) sob demanda.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852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Cobrança recorrente por usuário ou pacotes bienais caros; qualquer mudança gera cobrança extra.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2852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Previsibilidade e economia contínua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95928"/>
            <a:ext cx="10725912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995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Redução Contratual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Equipamento testado e pronto de base; desonera terceirizados e viabiliza redução do valor de 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995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Mantém o modelo antigo, com terceiro cobrando caro pela configuração em campo.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18320" y="3995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Redução direta do custo unitário por OS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138928"/>
            <a:ext cx="10725912" cy="114300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38928"/>
            <a:ext cx="182880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Domínio do Conhecimento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3464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Know-how retido 100% dentro da Claro. Triagem prévia de hardware feita pelos técnicos próprios.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5138928"/>
            <a:ext cx="310896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64748B"/>
                </a:solidFill>
                <a:latin typeface="Segoe UI"/>
              </a:rPr>
              <a:t>Dependência crônica de fornecedor terceiro, com risco de descontinuidade ou reajustes.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5138928"/>
            <a:ext cx="1947672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6A34A"/>
                </a:solidFill>
                <a:latin typeface="Segoe UI"/>
              </a:rPr>
              <a:t>Soberania técnica e controle de processos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Transparência Total: O Que Falta e Como Fechar Rapidamente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25880"/>
            <a:ext cx="21945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Situação Atual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325880"/>
            <a:ext cx="3566160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Plano de Fechamento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0" y="1325880"/>
            <a:ext cx="1399032" cy="384048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Prazo / Esforço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1709928"/>
            <a:ext cx="1072591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1709928"/>
            <a:ext cx="21031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Script Completo da GER CPE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709928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Hoje o SPARC aplica o script base de conectividade e acesso remoto, e a GER CPE conclui remotamente (já funcional).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09928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Receber da GER CPE o layout padrão do script. O motor de automação do SPARC já está pronto.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68128" y="2103120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Rápido (dias)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25496"/>
            <a:ext cx="10725912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25496"/>
            <a:ext cx="21031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Acesso à API Corporativa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2825496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Hoje o SPARC lê as ordens e parâmetros diretamente da ficha SAIP (PDF/TXT) sem erro humano.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825496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Liberar para o SPARC a mesma credencial de API já concedida ao Panteon para leitura direta de sistema.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168128" y="3218688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3941063"/>
            <a:ext cx="10725912" cy="11155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41063"/>
            <a:ext cx="21031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Governança e Oficialização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080" y="3941063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Hoje o SPARC opera como projeto inovador da Regional SC com versão beta estável.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941063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Oficializar em repositório corporativo Claro, revisão de Segurança da Informação e 2º mantenedor.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68128" y="4334255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Médio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5056632"/>
            <a:ext cx="10725912" cy="11155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056632"/>
            <a:ext cx="21031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881337"/>
                </a:solidFill>
                <a:latin typeface="Segoe UI"/>
              </a:rPr>
              <a:t>Perfil Modular 'SPARC Tester'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5056632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Hoje a versão atual possui todas as ferramentas avançadas de bancada e engenharia.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056632"/>
            <a:ext cx="3474720" cy="111556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1E293B"/>
                </a:solidFill>
                <a:latin typeface="Segoe UI"/>
              </a:rPr>
              <a:t>Gerar o perfil restrito/simplificado para distribuição segura e padronizada às parceiras terceirizadas.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68128" y="5449824"/>
            <a:ext cx="1179576" cy="329184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FFFFFF"/>
                </a:solidFill>
                <a:latin typeface="Segoe UI"/>
              </a:rPr>
              <a:t>Em curso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"/>
            <a:ext cx="82296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F9D5DC"/>
                </a:solidFill>
                <a:latin typeface="Segoe UI"/>
              </a:rPr>
              <a:t>🔴 CLARO S.A. — ATIVAÇÃO SC · SPARC × PANTEON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"/>
            <a:ext cx="1069848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Segoe UI"/>
              </a:rPr>
              <a:t>Plano de Ação: O Que Propomos para a Regional e a Claro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6492240"/>
            <a:ext cx="1069848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SPARC — Sistema de Provisionamento e Ativação de Roteadores Claro  |  Contato: george.calcmann@claro.com.br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399032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325880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362456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Aprovar o Modelo Modular (Full + Tester)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1709928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Implementar a triagem de hardware e preparo prévio na Assistência Técnica da Regional SC e distribuir o SPARC Tester aos parceiros.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331720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554480" y="2258568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295144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Intermediar Insumos com a GER CPE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642615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Obter o layout do script completo e a liberação da API corporativa já compartilhada com o Panteon.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264408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54480" y="3191256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227832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Revisão e Renegociação Contratual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575304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Abrir estudo com Suprimentos/Contratos para abatimento do item de configuração de roteador nas faturas de parceiras terceirizadas.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197096"/>
            <a:ext cx="640080" cy="640080"/>
          </a:xfrm>
          <a:prstGeom prst="ellipse">
            <a:avLst/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4123944"/>
            <a:ext cx="576072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4160520"/>
            <a:ext cx="5486400" cy="34747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881337"/>
                </a:solidFill>
                <a:latin typeface="Segoe UI"/>
              </a:rPr>
              <a:t>Oficialização Corporativa do SPARC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507992"/>
            <a:ext cx="548640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1E293B"/>
                </a:solidFill>
                <a:latin typeface="Segoe UI"/>
              </a:rPr>
              <a:t>Integrar aos canais oficiais da Claro com homologação de Segurança da Informação e expansão para as demais regionais.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589520" y="1325880"/>
            <a:ext cx="3867912" cy="3602736"/>
          </a:xfrm>
          <a:prstGeom prst="roundRect">
            <a:avLst>
              <a:gd name="adj" fmla="val 8000"/>
            </a:avLst>
          </a:prstGeom>
          <a:solidFill>
            <a:srgbClr val="8813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444752"/>
            <a:ext cx="356616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F9D5DC"/>
                </a:solidFill>
                <a:latin typeface="Segoe UI"/>
              </a:rPr>
              <a:t>Ganhos Imediatos para a Claro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874519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 Economia Contratual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148839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9D5DC"/>
                </a:solidFill>
                <a:latin typeface="Segoe UI"/>
              </a:rPr>
              <a:t>Abatimento de valor por OS nas faturas terceirizadas.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624327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 Zero Equipamento Defeituoso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0" y="2898647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9D5DC"/>
                </a:solidFill>
                <a:latin typeface="Segoe UI"/>
              </a:rPr>
              <a:t>Triagem prévia na base Claro substitui hardware antes do campo.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374135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 Zero Dependência de Link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648455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9D5DC"/>
                </a:solidFill>
                <a:latin typeface="Segoe UI"/>
              </a:rPr>
              <a:t>Opera 100% offline em bancada ou online pelo link do cliente.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0" y="4123944"/>
            <a:ext cx="356616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Segoe UI"/>
              </a:rPr>
              <a:t>✔ Zero Capex / Licenças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0" y="4398264"/>
            <a:ext cx="356616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F9D5DC"/>
                </a:solidFill>
                <a:latin typeface="Segoe UI"/>
              </a:rPr>
              <a:t>Ativo próprio da Claro sem taxas de fornecedor externo.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" y="5166360"/>
            <a:ext cx="10725912" cy="1051560"/>
          </a:xfrm>
          <a:prstGeom prst="roundRect">
            <a:avLst>
              <a:gd name="adj" fmla="val 8000"/>
            </a:avLst>
          </a:prstGeom>
          <a:solidFill>
            <a:srgbClr val="DA29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400"/>
              </a:spcAft>
            </a:pPr>
            <a:r>
              <a:rPr sz="1400" b="1" i="0">
                <a:solidFill>
                  <a:srgbClr val="FFFFFF"/>
                </a:solidFill>
                <a:latin typeface="Segoe UI"/>
              </a:rPr>
              <a:t>Decisão Estratégica Inteligente: </a:t>
            </a:r>
            <a:r>
              <a:rPr sz="1300" b="0" i="0">
                <a:solidFill>
                  <a:srgbClr val="FFFFFF"/>
                </a:solidFill>
                <a:latin typeface="Segoe UI"/>
              </a:rPr>
              <a:t>O SPARC faz tudo o que o Panteon faz (inclusive ativação online pelo link), mas entrega muito mais: </a:t>
            </a:r>
            <a:r>
              <a:rPr sz="1300" b="1" i="0">
                <a:solidFill>
                  <a:srgbClr val="FFFFFF"/>
                </a:solidFill>
                <a:latin typeface="Segoe UI"/>
              </a:rPr>
              <a:t>preparo 100% offline, triagem prévia de hardware, eliminação de licenças e redução direta de custos nos contratos de instalação terceirizados.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