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54864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🔴  CLARO S.A. — ATIVAÇÃO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1005840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AE8EB"/>
                </a:solidFill>
                <a:latin typeface="Segoe UI"/>
              </a:rPr>
              <a:t>Decisão Estratégica: Flexibilidade Operacional, Soberania e Redução de Custos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1024128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Avaliação executiva da solução autônoma interna (SPARC) frente à contratação de plataformas externas, no apoio às Ativações de campo e Visita Única.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703320"/>
            <a:ext cx="24231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19" y="3867911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FLEXIBILIDADE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4270248"/>
            <a:ext cx="214884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Modo Offline Nativo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846320"/>
            <a:ext cx="214884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Trabalha em bancada ou campo sem depender do link do cliente. Cache de firmwares homologados embutido no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703320"/>
            <a:ext cx="24231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3867911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CUSTO ZERO &amp; CAPEX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270248"/>
            <a:ext cx="214884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R$ 0 em Licenças / Servidores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846320"/>
            <a:ext cx="214884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Sem cobranças de licenças, ativação via cadastro gerenciável pelo módulo Administrador, cada cluster controla sua distribuição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03320"/>
            <a:ext cx="24231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3867911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REDUÇÃO CONTRATUAL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70248"/>
            <a:ext cx="214884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Oportunidade de economia por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214884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Roteador já pode sair 100% testado da base Claro (Plug &amp; Play), permitindo abater o item pago ao parceiro terceirizado.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703320"/>
            <a:ext cx="24231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3867911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AGILIDADE INTERNA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270248"/>
            <a:ext cx="214884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Suporte &amp; Evolução Ágil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846320"/>
            <a:ext cx="214884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Novos modelos (Cisco, HPE, Fortinet) e melhorias liberados em horas/dias pela equipe Claro. Sem filas de fornecedor.</a:t>
            </a:r>
          </a:p>
        </p:txBody>
      </p:sp>
      <p:pic>
        <p:nvPicPr>
          <p:cNvPr id="24" name="Picture 23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48640"/>
            <a:ext cx="107863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Os 4 Pilares Estratégicos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Comparativo focado nas reais dores de campo, flexibilidade e retorno financeiro para a Claro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25603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444751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1. FLEXIBILIDADE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2286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284C7"/>
                </a:solidFill>
                <a:latin typeface="Segoe UI"/>
              </a:rPr>
              <a:t>Modo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77439"/>
            <a:ext cx="22860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Zero Dependência do Link: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O SPARC foi concebido sob o paradigma Offline-First, operando de forma 100% autónoma diretamente no terminal do técnico, sem necessidade do enlace de acesso durante as etapas preliminares.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Cache de Firmware Local: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Imagens homologadas (.bin/.ipe/.out) embarcadas, com atualizações via download sempre que necessário.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Cabo Serial + Ethernet: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Suporta recuperação de firmwares corrompidos via TFTP nativo, restaura configurações de equipamentos com senhas desconhecidas.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280160"/>
            <a:ext cx="25603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1444751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2. REDUÇÃO DE 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74519"/>
            <a:ext cx="2286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6A34A"/>
                </a:solidFill>
                <a:latin typeface="Segoe UI"/>
              </a:rPr>
              <a:t>Economia Direta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77439"/>
            <a:ext cx="22860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R$ 0 em Licenças: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Ativo 100% interno Claro. Sem custos com licenças, manutenções e implementações.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Flexibilidade e Abatimento por OS: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Roteador pode sair pronto da base, configurado e testado; permite renegociar o item 'configuração de CPE’.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Fim das Visitas Perdidas: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Triagem antecipada elimina retrabalho de técnicos por roteador defeituoso.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80160"/>
            <a:ext cx="25603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444751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3. AGILIDADE &amp; SUPORTE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19"/>
            <a:ext cx="2286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97706"/>
                </a:solidFill>
                <a:latin typeface="Segoe UI"/>
              </a:rPr>
              <a:t>Soberania Técnica Claro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77439"/>
            <a:ext cx="22860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Sem Fila de Fornecedor: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com SPARC dispensamos longas negociações com fornecedores, aditivos contratuais, defesas de CAPEX, prazos dilatados para ajustes e desenvolvimento.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Desenvolvimento Colaborativo (Co-design):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alinhamento direto e contínuo com os pontos focais da operação, incorporando feedbacks práticos e evoluindo a solução a partir das dores reais vivenciadas pelas equipes de campo.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Domínio do Conhecimento: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Know-how mantido 100% dentro da Claro; zero risco de dependência tecnológica.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280160"/>
            <a:ext cx="25603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1444751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4. TRIAGEM DE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74519"/>
            <a:ext cx="2286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A291C"/>
                </a:solidFill>
                <a:latin typeface="Segoe UI"/>
              </a:rPr>
              <a:t>Blindagem da VU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377439"/>
            <a:ext cx="22860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Teste Prévio na Base: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Portas de rede, memória Flash e boot podem ser avaliados antecipadamente com as facilidades do SPARC.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Substituição Antecipada: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Se houver defeito físico, troca antes de sair para o cliente.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Entrega Plug &amp; Play: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Roteador sai da base etiquetado, com IP do circuito e firmware homologado gravado.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Produtividade em Bancada: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Um único técnico interno prepara dezenas de aparelhos/dia em menos de 10 min cada.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Como a Ferramenta Funciona na Prática: Esteira Automatizada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Visão operacional da interface unificada que guia o técnico do diagnóstico físico ao laudo formal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612648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46304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INTERFACE PRINCIPAL — FLUXO UNIFICADO</a:t>
            </a:r>
          </a:p>
        </p:txBody>
      </p:sp>
      <p:pic>
        <p:nvPicPr>
          <p:cNvPr id="12" name="Picture 11" descr="sparc_ui_16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5852160" cy="3291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8680" y="5440680"/>
            <a:ext cx="58521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86400"/>
            <a:ext cx="56692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Tela Única Inteligente: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Integra detecção de portas COM, terminal CLI colorido, leitor de SAIP e esteira de automação com feedback visual passo a passo.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325880"/>
            <a:ext cx="4419295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14630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GUIA VISUAL DE OPERAÇÃO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874519"/>
            <a:ext cx="4144975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9659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947672"/>
            <a:ext cx="3200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1a &amp; 1b. Detecção e Autenticação Serial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258568"/>
            <a:ext cx="3977639" cy="53035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Identifica automaticamente Cisco, HPE ou FortiGate. Desbloqueia e autentica o console sem intervenção manual (senhas padrão Claro e fábrica).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2953511"/>
            <a:ext cx="4144975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3044951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026663"/>
            <a:ext cx="3200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2. Leitura Inteligente do SAIP (PDF/TXT)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37559"/>
            <a:ext cx="3977639" cy="53035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Importa a ficha técnica oficial com 1 clique. Preenche WAN, LAN, BGP, rotas e hostname com 100% de precisão e zero digitação.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4032504"/>
            <a:ext cx="4144975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69480" y="412394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105656"/>
            <a:ext cx="3200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3. Gravação de Firmware &amp; Provisionamento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416552"/>
            <a:ext cx="3977639" cy="53035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Servidor TFTP/HTTP nativo grava firmware via cabo de rede na porta WAN/LAN. Aplica o script do circuito e verifica link físico.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5111496"/>
            <a:ext cx="4144975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69480" y="5202936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84648"/>
            <a:ext cx="3200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4. Homologação, Banda e Certidão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95544"/>
            <a:ext cx="3977639" cy="53035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Audita ICMP (LAN/WAN/Web), valida Telnet/SSH, afere velocidade e emite laudo formal de Certidão em PDF com QR Code para a 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Flexibilidade de Plataformas: Desktop na Base + Mobile em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A mesma inteligência operacional adaptada para alta produtividade em bancada e mobilidade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463040"/>
            <a:ext cx="3840480" cy="320040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SPARC WINDOWS DESKTOP (.EXE) — BASE CLARO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49377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881337"/>
                </a:solidFill>
                <a:latin typeface="Segoe UI"/>
              </a:rPr>
              <a:t>Modo Bancada / Laboratório na Regional</a:t>
            </a:r>
          </a:p>
        </p:txBody>
      </p:sp>
      <p:pic>
        <p:nvPicPr>
          <p:cNvPr id="13" name="Picture 12" descr="sparc_ui_16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937760" cy="27774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166360"/>
            <a:ext cx="49377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Produtividade Máxima: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Um único técnico prepara dezenas de aparelhos/dia em esteira fluida.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Recuperação de BIOS/ROMMON: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TFTP gigabit nativo grava firmwares e recupera aparelhos sem SO.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Triagem Fisiológica de Hardware: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Testa portas, memória e boot antes de despachar para o cliente.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1325880"/>
            <a:ext cx="521208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5255" y="1463040"/>
            <a:ext cx="3840480" cy="3200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SPARC MOBILE ANDROID (.APK) — CAMPO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1874519"/>
            <a:ext cx="49377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284C7"/>
                </a:solidFill>
                <a:latin typeface="Segoe UI"/>
              </a:rPr>
              <a:t>Modo Portátil / Smartphone do Técnico</a:t>
            </a:r>
          </a:p>
        </p:txBody>
      </p:sp>
      <p:pic>
        <p:nvPicPr>
          <p:cNvPr id="18" name="Picture 17" descr="sparc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331720"/>
            <a:ext cx="1299411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85255" y="5166360"/>
            <a:ext cx="49377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100% Portátil: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Roda no celular corporativo Android do técnico de campo via cabo USB-Serial.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Validação e Laudo na Ponta: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Afere velocidade (Speedtest / Y.1564) e gera laudo PDF formal com QR Code.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Modelo SPARC Tester: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Ideal para parceiros terceirizados apenas validarem a entrega sem mexer na config.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Scorecard Comparativo: SPARC (Interno) × Panteon (Externo)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Análise objetiva dos requisitos técnicos, contratuais e operacionais de implantação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234440"/>
            <a:ext cx="10728655" cy="685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5486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AE8EB"/>
                </a:solidFill>
                <a:latin typeface="Segoe UI"/>
              </a:rPr>
              <a:t>PLACAR ESTRATÉGICO: </a:t>
            </a:r>
            <a:r>
              <a:rPr sz="1800" b="1" i="0">
                <a:solidFill>
                  <a:srgbClr val="16A34A"/>
                </a:solidFill>
                <a:latin typeface="Segoe UI"/>
              </a:rPr>
              <a:t>SPARC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10  ×  1 </a:t>
            </a:r>
            <a:r>
              <a:rPr sz="1800" b="1" i="0">
                <a:solidFill>
                  <a:srgbClr val="DC2626"/>
                </a:solidFill>
                <a:latin typeface="Segoe UI"/>
              </a:rPr>
              <a:t>Panteon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6634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Vantagem expressiva em Flexibilidade, Custo Zero e Soberania Técnica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1072865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12264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Investimento em Licenças de Software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2103120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121408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R$ 0 — Ativo proprietário interno Claro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103120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121408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Alto — Licenças por usuário ou bienais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496312"/>
            <a:ext cx="10728655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551176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Infraestrutura de Servidores Novos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542032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560320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Zero servidores — Processamento no endpoint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542032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56032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Exige 10+ servidores dedicados (Capex/Opex)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935224"/>
            <a:ext cx="1072865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90088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Operação Offline (Sem Link no Cliente)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2980944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999232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100% Autônomo via Cache local de firmwares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980944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999232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TRAVA — Inviabilizado sem link ativo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74136"/>
            <a:ext cx="10728655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29000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Redução de Custos em Contratos de 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419856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438144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Sim — Roteador sai pronto (abate item de CPE)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3419856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3438144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Não — Mantém terceiro configurando no campo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813048"/>
            <a:ext cx="1072865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867911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Triagem Prévia de Hardware em Bancada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3858768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3877056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Sim — Substituição na base antes da visita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3858768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3877056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Não — Descobre falha na frente do cliente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251960"/>
            <a:ext cx="10728655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306824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Plataformas Operacionais Homologadas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4297680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4315968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Windows Desktop (.exe) + Android (.apk)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4297680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4315968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Apenas Android (sem versão Desktop)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690872"/>
            <a:ext cx="1072865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745736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Interfaces de Conexão Física em Campo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4736592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4754880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Serial CLI + Cabo de Rede Ethernet (TFTP/HTTP)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736592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75488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Somente Cabo Serial CLI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129783"/>
            <a:ext cx="10728655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184647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Agilidade para Correções e Novos Modelos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5175503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5193792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Horas ou Dias — Equipe de desenvolvimento Claro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01000" y="5175503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92440" y="5193792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Fila de Fornecedor — Depende de SLA/contrato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568696"/>
            <a:ext cx="1072865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5623559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Recuperação de Firmware Corrompido / BIOS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09160" y="5614416"/>
            <a:ext cx="315468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0600" y="5632704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Automática via TFTP integrado na porta WAN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5614416"/>
            <a:ext cx="3337560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92440" y="5632704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✖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Não recupera equipamentos sem firmware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6007608"/>
            <a:ext cx="10728655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62472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Integração com Sistemas Corporativos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6053328"/>
            <a:ext cx="3154680" cy="310896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00600" y="6071616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284C7"/>
                </a:solidFill>
                <a:latin typeface="Segoe UI"/>
              </a:rPr>
              <a:t>◐ 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Via SAIP (PDF/TXT) hoje; API em roadmap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01000" y="6053328"/>
            <a:ext cx="3337560" cy="310896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2440" y="6071616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Homologado via API Corporativa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Flexibilidade Operacional: Onde Cada Solução Funciona na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Análise de tolerância a falhas nos 4 principais cenários de atendimento ao cliente B2B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463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CENÁRIO 1: LINK 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481328"/>
            <a:ext cx="27432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Circuito entregue e estável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93776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Situação: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Cliente possui conectividade disponível no ato da visita.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SPARC: </a:t>
            </a:r>
            <a:r>
              <a:rPr sz="1150" b="1" i="0">
                <a:solidFill>
                  <a:srgbClr val="16A34A"/>
                </a:solidFill>
                <a:latin typeface="Segoe UI"/>
              </a:rPr>
              <a:t>✔ FUNCIONA PERFEITAMENTE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Baixa parâmetros e valida direto pelo link.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Panteon: </a:t>
            </a:r>
            <a:r>
              <a:rPr sz="1150" b="1" i="0">
                <a:solidFill>
                  <a:srgbClr val="16A34A"/>
                </a:solidFill>
                <a:latin typeface="Segoe UI"/>
              </a:rPr>
              <a:t>✔ FUNCIONA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Este é o único fluxo previsto na ferramenta externa.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475569"/>
                </a:solidFill>
                <a:latin typeface="Segoe UI"/>
              </a:rPr>
              <a:t>Veredito: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Ambos atendem quando tudo corre 100% bem.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325880"/>
            <a:ext cx="5212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5255" y="14630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CENÁRIO 2: BANCADA NA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481328"/>
            <a:ext cx="2377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Sem link / Preparo prévio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1874519"/>
            <a:ext cx="493776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Situação: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Equipamento é preparado antes de ir ao cliente por técnicos Claro.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SPARC: </a:t>
            </a:r>
            <a:r>
              <a:rPr sz="1150" b="1" i="0">
                <a:solidFill>
                  <a:srgbClr val="16A34A"/>
                </a:solidFill>
                <a:latin typeface="Segoe UI"/>
              </a:rPr>
              <a:t>✔ 100% OPERACIONAL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Cache de firmware embarcado; sai pronto em &lt; 10 min.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Panteon: </a:t>
            </a:r>
            <a:r>
              <a:rPr sz="1150" b="1" i="0">
                <a:solidFill>
                  <a:srgbClr val="DC2626"/>
                </a:solidFill>
                <a:latin typeface="Segoe UI"/>
              </a:rPr>
              <a:t>✖ INVIABILIZADO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Exige obrigatoriamente link online ativo para operar.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Ganho Claro: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Roteador sai Plug &amp; Play. Terceiro só instala fisicamente.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5212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93192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CENÁRIO 3: LINK INSTÁVEL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50208"/>
            <a:ext cx="2286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Oscilação ou atraso de rede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43400"/>
            <a:ext cx="493776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Situação: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Rede oscilando ou gerência ainda não liberou o circuito.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SPARC: </a:t>
            </a:r>
            <a:r>
              <a:rPr sz="1150" b="1" i="0">
                <a:solidFill>
                  <a:srgbClr val="16A34A"/>
                </a:solidFill>
                <a:latin typeface="Segoe UI"/>
              </a:rPr>
              <a:t>✔ ZERO IMPACTO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Aplica firmware e configuração localmente; sobe assim que a rede normalizar.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Panteon: </a:t>
            </a:r>
            <a:r>
              <a:rPr sz="1150" b="1" i="0">
                <a:solidFill>
                  <a:srgbClr val="DC2626"/>
                </a:solidFill>
                <a:latin typeface="Segoe UI"/>
              </a:rPr>
              <a:t>✖ TRAVA TOTAL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Interrompe processo, prende o técnico e pode gerar visita perdida.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Ganho Claro: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Blindagem do cronograma e proteção da Visita Única.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3794760"/>
            <a:ext cx="5212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5255" y="393192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CENÁRIO 4: RECUPERAÇÃO / BIOS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950208"/>
            <a:ext cx="21945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Sem SO / ROMMON / BootWare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5255" y="4343400"/>
            <a:ext cx="493776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Situação: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Roteador reutilizado sem imagem ou bloqueado em bootloader.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SPARC: </a:t>
            </a:r>
            <a:r>
              <a:rPr sz="1150" b="1" i="0">
                <a:solidFill>
                  <a:srgbClr val="16A34A"/>
                </a:solidFill>
                <a:latin typeface="Segoe UI"/>
              </a:rPr>
              <a:t>✔ RECUPERAÇÃO TOTAL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Servidor TFTP Ethernet nativo grava SO via porta WAN.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Panteon: </a:t>
            </a:r>
            <a:r>
              <a:rPr sz="1150" b="1" i="0">
                <a:solidFill>
                  <a:srgbClr val="DC2626"/>
                </a:solidFill>
                <a:latin typeface="Segoe UI"/>
              </a:rPr>
              <a:t>✖ NÃO SUPORTA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— Opera apenas via CLI Serial; incapaz de transferir imagem TFTP.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Ganho Claro: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Reaproveitamento de centenas de roteadores parados em estoque.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Modularidade Operacional: O Modelo SPARC Full × SPARC Tester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A esteira que desonera contratos terceirizados e garante zero entrega com defeito físico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463040"/>
            <a:ext cx="3474720" cy="320040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1. BASE CLARO: SPARC FULL (Técnicos Próprios)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937760" cy="2560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Quem opera: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Assistência Técnica e Ativação própria da Claro.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Onde: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Bancada / Laboratório na Base Regional.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Triagem de Hardware: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Testa portas Ethernet, fonte, boot e memórias.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Defeito físico é corrigido/substituído na base antes de ir para a rua.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O que faz: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Lê o SAIP (PDF/TXT) sem erro, grava firmware homologado e aplica script.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Tempo Médio: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Menos de 10 minutos por equipamento.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Resultado: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Roteador sai 100% pronto, testado e etiquetado ('Plug &amp; Play').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25880"/>
            <a:ext cx="521208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5255" y="1463040"/>
            <a:ext cx="3657600" cy="3200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2. CAMPO: SPARC TESTER (Técnicos Terceirizados)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5255" y="1920240"/>
            <a:ext cx="4937760" cy="2560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Quem opera: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Empresas parceiras terceirizadas responsáveis pela instalação física.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284C7"/>
                </a:solidFill>
                <a:latin typeface="Segoe UI"/>
              </a:rPr>
              <a:t>O que muda: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Retira do terceiro o acesso privilegiado e a responsabilidade de configurar.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O que é o SPARC Tester: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App ultraleve e blindado para celular corporativo ou notebook.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O que faz: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Valida link, afere velocidade com Speedtest e gera Certidão PDF formal.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Versatilidade Híbrida: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Permite também ativar online se a base não preparou o roteador.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Resultado: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Zero erro de configuração em campo e entrega homologada com laudo.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728655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1024128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6A34A"/>
                </a:solidFill>
                <a:latin typeface="Segoe UI"/>
              </a:rPr>
              <a:t>💰 ALAVANCA FINANCEIRA ESTRATÉGICA PARA A CLARO: </a:t>
            </a:r>
            <a:r>
              <a:rPr sz="1400" b="1" i="0">
                <a:solidFill>
                  <a:srgbClr val="0F172A"/>
                </a:solidFill>
                <a:latin typeface="Segoe UI"/>
              </a:rPr>
              <a:t>REDUÇÃO DIRETA DE CONTRATO POR OS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Como o parceiro terceirizado </a:t>
            </a:r>
            <a:r>
              <a:rPr sz="1200" b="1" i="0">
                <a:solidFill>
                  <a:srgbClr val="0F172A"/>
                </a:solidFill>
                <a:latin typeface="Segoe UI"/>
              </a:rPr>
              <a:t>NÃO precisa mais configurar o roteador no cliente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(o equipamento já chega pronto e testado pela base Claro), a Claro ganha respaldo técnico e operacional imediato para </a:t>
            </a:r>
            <a:r>
              <a:rPr sz="1200" b="1" i="0">
                <a:solidFill>
                  <a:srgbClr val="16A34A"/>
                </a:solidFill>
                <a:latin typeface="Segoe UI"/>
              </a:rPr>
              <a:t>renegociar e abater o valor do item 'Configuração de CPE'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pago nas ordens de serviço. Em escala regional e nacional, essa economia cobre com folga qualquer investimento interno!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Impacto Mensurado, Agilidade de Suporte e Soberania Tecnológica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Resultados consolidados em campo e comparação da governança de longo prazo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2560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7"/>
            <a:ext cx="2377439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16A34A"/>
                </a:solidFill>
                <a:latin typeface="Segoe UI"/>
              </a:rPr>
              <a:t>-88%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84248"/>
            <a:ext cx="23774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Tempo de Ativação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23774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De ~50 min para &lt; 10 min por roteador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325880"/>
            <a:ext cx="2560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435607"/>
            <a:ext cx="2377439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0284C7"/>
                </a:solidFill>
                <a:latin typeface="Segoe U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984248"/>
            <a:ext cx="23774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Aderência SAIP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331720"/>
            <a:ext cx="23774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Zero erro de digitação de IPs, rotas e máscaras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25880"/>
            <a:ext cx="2560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35607"/>
            <a:ext cx="2377439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16A34A"/>
                </a:solidFill>
                <a:latin typeface="Segoe UI"/>
              </a:rPr>
              <a:t>R$ 0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84248"/>
            <a:ext cx="23774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Licenças &amp; Servidores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23774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Economia contínua de Capex/Opex de fornecedor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325880"/>
            <a:ext cx="2560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1435607"/>
            <a:ext cx="2377439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DA291C"/>
                </a:solidFill>
                <a:latin typeface="Segoe U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1984248"/>
            <a:ext cx="23774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Visitas Perdidas por HW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331720"/>
            <a:ext cx="23774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Triagem prévia na base elimina falhas em campo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063240"/>
            <a:ext cx="52120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3200400"/>
            <a:ext cx="320040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SPARC: SUSTENTAÇÃO ÁGIL INTERNA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11880"/>
            <a:ext cx="4937760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Evolução Ágil e Contínua: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Ajustes de firmware, regexes e novos modelos liberados em horas/dias pela equipe Claro.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Multi-Fabricante Real: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Cisco (1100, 841, 921, 1900, 2900), HPE MSR (930, 954, 1002) e Fortinet 40F já ativos.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Zero SLA de Terceiros: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Qualquer necessidade técnica é resolvida diretamente sem dependência de fornecedor.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Soberania Tecnológica: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O código, as regras de negócio e o know-how pertencem 100% à Claro.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3063240"/>
            <a:ext cx="52120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85255" y="3200400"/>
            <a:ext cx="3474720" cy="32004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PANTEON: RISCOS DO MODELO EXTERNO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5255" y="3611880"/>
            <a:ext cx="4937760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✖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Dependência Crônica de Fornecedor: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Qualquer customização ou novo modelo depende de orçamento adicional e fila de backlog.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✖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Contratos Bienais e Reajustes: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Custos recorrentes que encarecem a operação ano a ano (lock-in comercial).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✖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Falta de Suporte a Ethernet / TFTP: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Limitação arquitetural que impede recuperação de roteadores sem SO / em modo BIOS.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✖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Exigência de 10+ Servidores: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Complexidade de manutenção e alto custo de infraestrutura centralizada.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EMPRESARIAL · 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Recomendações Executivas e Plano de Ação Imediato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Passos claros e sem burocracia para consolidar a eficiência de campo na Claro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Regional SC  |  george.calcmann@claro.com.br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333756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490472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PASSO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3063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Aprovar Modelo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39"/>
            <a:ext cx="306324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Implantar o modelo SPARC Full na Assistência Técnica própria da Regional SC para pré-configuração e triagem, e liberar o SPARC Tester aos parceiros.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325880"/>
            <a:ext cx="333756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2856" y="1490472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PASSO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1965960"/>
            <a:ext cx="3063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Renegociação Contratual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606039"/>
            <a:ext cx="306324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Abrir estudo conjunto com Suprimentos/Contratos para abater o item 'Configuração de CPE' nas faturas de empresas terceirizadas de instalação.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25880"/>
            <a:ext cx="333756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57032" y="1490472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PASSO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1965960"/>
            <a:ext cx="3063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Oficialização Corporativa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606039"/>
            <a:ext cx="306324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Liberar para o SPARC a mesma credencial de API Corporativa já concedida ao Panteon e oficializar a solução como padrão nacional Claro.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89120"/>
            <a:ext cx="10728655" cy="1874519"/>
          </a:xfrm>
          <a:prstGeom prst="rect">
            <a:avLst/>
          </a:prstGeom>
          <a:solidFill>
            <a:srgbClr val="1E293B"/>
          </a:solidFill>
          <a:ln w="1270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10149840" cy="1508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AE8EB"/>
                </a:solidFill>
                <a:latin typeface="Segoe UI"/>
              </a:rPr>
              <a:t>RESUMO EXECUTIVO PARA TOMADA DE DECISÃO: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O </a:t>
            </a:r>
            <a:r>
              <a:rPr sz="1400" b="1" i="0">
                <a:solidFill>
                  <a:srgbClr val="16A34A"/>
                </a:solidFill>
                <a:latin typeface="Segoe UI"/>
              </a:rPr>
              <a:t>SPARC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entrega uma solução de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custo zero em licenças e servidores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, com </a:t>
            </a:r>
            <a:r>
              <a:rPr sz="1300" b="1" i="0">
                <a:solidFill>
                  <a:srgbClr val="FAE8EB"/>
                </a:solidFill>
                <a:latin typeface="Segoe UI"/>
              </a:rPr>
              <a:t>máxima flexibilidade operacional (100% offline via cache de firmware)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,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eliminação de retrabalho por triagem de hardware na base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e </a:t>
            </a:r>
            <a:r>
              <a:rPr sz="1300" b="1" i="0">
                <a:solidFill>
                  <a:srgbClr val="16A34A"/>
                </a:solidFill>
                <a:latin typeface="Segoe UI"/>
              </a:rPr>
              <a:t>agilidade total de sustentação interna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. A adoção do SPARC protege o orçamento da Claro, valoriza a equipe técnica própria e alavanca a economia nos contratos terceirizados.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Decisão Recomendada: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Consolidar o SPARC como ativo estratégico prioritário da Claro.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