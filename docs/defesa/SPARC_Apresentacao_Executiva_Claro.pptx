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shape_5_Imagem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_1_shape_9_Imagem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5824728"/>
            <a:ext cx="941832" cy="85039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594360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DA291C"/>
                </a:solidFill>
                <a:latin typeface="AMX"/>
              </a:rPr>
              <a:t>🔴  CLARO S.A. — ATIVAÇÃO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51560"/>
            <a:ext cx="5303520" cy="8686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FFFFFF"/>
                </a:solidFill>
                <a:latin typeface="AMX"/>
              </a:rPr>
              <a:t>SPARC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0352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ECACA"/>
                </a:solidFill>
                <a:latin typeface="AMX"/>
              </a:rPr>
              <a:t>Sistema de Provisionamento e Ativação de Roteadores da CLARO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40280"/>
            <a:ext cx="5303520" cy="502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MX"/>
              </a:rPr>
              <a:t>Novas Oportunidades, Agilidade, Flexibilidade e Redução de Custos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788920"/>
            <a:ext cx="5303520" cy="4114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EE2E2"/>
                </a:solidFill>
                <a:latin typeface="AMX"/>
              </a:rPr>
              <a:t>Solução autônoma da CLARO no apoio às Ativações de campo e Visita Única.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337560"/>
            <a:ext cx="2560320" cy="1234440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 w="12700">
            <a:solidFill>
              <a:srgbClr val="FE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3410712"/>
            <a:ext cx="2340863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MX"/>
              </a:rPr>
              <a:t>FLEXIBILIDADE OPERACIONAL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3685032"/>
            <a:ext cx="2340863" cy="8229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FDEAEA"/>
                </a:solidFill>
                <a:latin typeface="AMX"/>
              </a:rPr>
              <a:t>Em bancada ou no campo, SPARC está pronto para preparação do equipamento. Cache de firmwares homologados embarcado no 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3337560"/>
            <a:ext cx="2560320" cy="1234440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 w="12700">
            <a:solidFill>
              <a:srgbClr val="FE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25128" y="3410712"/>
            <a:ext cx="2340863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MX"/>
              </a:rPr>
              <a:t>BAIXO CUSTO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3685032"/>
            <a:ext cx="2340863" cy="8229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FDEAEA"/>
                </a:solidFill>
                <a:latin typeface="AMX"/>
              </a:rPr>
              <a:t>Sem cobrança de licenças, a ativação é online mediante cadastro via módulo Administrador, cada cluster poderá administrar suas equipes.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63440"/>
            <a:ext cx="2560320" cy="1234440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 w="12700">
            <a:solidFill>
              <a:srgbClr val="FE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4736592"/>
            <a:ext cx="2340863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MX"/>
              </a:rPr>
              <a:t>AGILIDADE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010912"/>
            <a:ext cx="2340863" cy="8229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FDEAEA"/>
                </a:solidFill>
                <a:latin typeface="AMX"/>
              </a:rPr>
              <a:t>Suporte a novos modelos e implementações ágeis, sem filas de fornecedor.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4663440"/>
            <a:ext cx="2560320" cy="1234440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 w="12700">
            <a:solidFill>
              <a:srgbClr val="FE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4736592"/>
            <a:ext cx="2340863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MX"/>
              </a:rPr>
              <a:t>OPORTUNIDADES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5010912"/>
            <a:ext cx="2340863" cy="8229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FDEAEA"/>
                </a:solidFill>
                <a:latin typeface="AMX"/>
              </a:rPr>
              <a:t>Roteador já pode sair 100% testado da base Claro (Plug &amp; Play), permitindo abater o item pago ao parceiro terceirizado, versatilidade com diferentes modos de operação.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shape_5_Imagem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_1_shape_9_Imagem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5824728"/>
            <a:ext cx="941832" cy="850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DA291C"/>
                </a:solidFill>
                <a:latin typeface="AMX"/>
              </a:rPr>
              <a:t>🔴  CLARO S.A. — ATIVAÇÃO EMPRESARIAL · SPARC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058400" cy="3840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11827"/>
                </a:solidFill>
                <a:latin typeface="AMX"/>
              </a:rPr>
              <a:t>Como a Ferramenta Funciona na Prática: Esteira Automatizada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B5563"/>
                </a:solidFill>
                <a:latin typeface="AMX"/>
              </a:rPr>
              <a:t>Visão operacional da interface unificada que guia o técnico do diagnóstico físico ao laudo formal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058400" cy="2286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AMX"/>
              </a:rPr>
              <a:t>SPARC — Sistema de Provisionamento e Ativação de Roteadores Claro  |  Regional SC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61872"/>
            <a:ext cx="6126480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371600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MX"/>
              </a:rPr>
              <a:t>INTERFACE PRINCIPAL — FLUXO UNIFICADO</a:t>
            </a:r>
          </a:p>
        </p:txBody>
      </p:sp>
      <p:pic>
        <p:nvPicPr>
          <p:cNvPr id="11" name="Picture 10" descr="slide_2_36_Imagem_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737360"/>
            <a:ext cx="5852160" cy="45579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68680" y="5669280"/>
            <a:ext cx="5852160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705856"/>
            <a:ext cx="5669280" cy="40233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11827"/>
                </a:solidFill>
                <a:latin typeface="AMX"/>
              </a:rPr>
              <a:t>Tela Única Inteligente: </a:t>
            </a:r>
            <a:r>
              <a:rPr sz="1000" b="0" i="0">
                <a:solidFill>
                  <a:srgbClr val="4B5563"/>
                </a:solidFill>
                <a:latin typeface="AMX"/>
              </a:rPr>
              <a:t>Detecção COM automática, leitura de SAIP, terminal CLI integrado e esteira de automação com feedback em tempo real.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1261872"/>
            <a:ext cx="3886200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137160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MX"/>
              </a:rPr>
              <a:t>GUIA VISUAL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737360"/>
            <a:ext cx="3611880" cy="100584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23760" y="1810512"/>
            <a:ext cx="594360" cy="23774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MX"/>
              </a:rP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792224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11827"/>
                </a:solidFill>
                <a:latin typeface="AMX"/>
              </a:rPr>
              <a:t>1. Detecção e Autenticação Serial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084831"/>
            <a:ext cx="3429000" cy="62179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11827"/>
                </a:solidFill>
                <a:latin typeface="AMX"/>
              </a:rPr>
              <a:t>Identifica automaticamente Cisco, HPE ou FortiGate. Desbloqueia e autentica o console sem intervenção manual.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2834639"/>
            <a:ext cx="3611880" cy="100584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23760" y="2907791"/>
            <a:ext cx="594360" cy="23774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MX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889503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11827"/>
                </a:solidFill>
                <a:latin typeface="AMX"/>
              </a:rPr>
              <a:t>2. Leitura Inteligente do SAIP (PDF/TXT)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182111"/>
            <a:ext cx="3429000" cy="62179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11827"/>
                </a:solidFill>
                <a:latin typeface="AMX"/>
              </a:rPr>
              <a:t>Importa a ficha técnica oficial com 1 clique. Preenche WAN, LAN, BGP, rotas e hostname com 100% de precisão e zero digitação. Oportunidade: integração via API Claro com MODOS.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931920"/>
            <a:ext cx="3611880" cy="100584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23760" y="4005072"/>
            <a:ext cx="594360" cy="23774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MX"/>
              </a:rPr>
              <a:t>P3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986783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11827"/>
                </a:solidFill>
                <a:latin typeface="AMX"/>
              </a:rPr>
              <a:t>3. Gravação de Firmware &amp; Provisionamento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279392"/>
            <a:ext cx="3429000" cy="62179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11827"/>
                </a:solidFill>
                <a:latin typeface="AMX"/>
              </a:rPr>
              <a:t>Servidor TFTP/HTTP nativo grava firmware via cabo de rede na porta WAN/LAN. Aplica o script do circuito e verifica link físico.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5029200"/>
            <a:ext cx="3611880" cy="100584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23760" y="5102352"/>
            <a:ext cx="594360" cy="237744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MX"/>
              </a:rPr>
              <a:t>P4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5084064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11827"/>
                </a:solidFill>
                <a:latin typeface="AMX"/>
              </a:rPr>
              <a:t>4. Teste de Banda com relatório em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376672"/>
            <a:ext cx="3429000" cy="62179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11827"/>
                </a:solidFill>
                <a:latin typeface="AMX"/>
              </a:rPr>
              <a:t>Audita ICMP (LAN/WAN/Web), valida Telnet/SSH, afere velocidade e emite resultado em PDF com QR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shape_5_Imagem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_1_shape_9_Imagem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5824728"/>
            <a:ext cx="941832" cy="850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DA291C"/>
                </a:solidFill>
                <a:latin typeface="AMX"/>
              </a:rPr>
              <a:t>🔴  CLARO S.A. — ATIVAÇÃO EMPRESARIAL · SPARC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058400" cy="3840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11827"/>
                </a:solidFill>
                <a:latin typeface="AMX"/>
              </a:rPr>
              <a:t>Flexibilidade de Plataformas: Desktop na Base + Mobile em Campo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B5563"/>
                </a:solidFill>
                <a:latin typeface="AMX"/>
              </a:rPr>
              <a:t>A mesma inteligência operacional adaptada para alta produtividade com mobilidade total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058400" cy="2286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AMX"/>
              </a:rPr>
              <a:t>SPARC — Sistema de Provisionamento e Ativação de Roteadores Claro  |  Regional SC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61872"/>
            <a:ext cx="5029200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371600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MX"/>
              </a:rPr>
              <a:t>SPARC MOBILE ANDROID (.APK)</a:t>
            </a:r>
          </a:p>
        </p:txBody>
      </p:sp>
      <p:pic>
        <p:nvPicPr>
          <p:cNvPr id="11" name="Picture 10" descr="slide_3_21_Imagem_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737360"/>
            <a:ext cx="2240280" cy="4389120"/>
          </a:xfrm>
          <a:prstGeom prst="rect">
            <a:avLst/>
          </a:prstGeom>
        </p:spPr>
      </p:pic>
      <p:pic>
        <p:nvPicPr>
          <p:cNvPr id="12" name="Picture 11" descr="slide_3_23_Imagem_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1737360"/>
            <a:ext cx="2240280" cy="43891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897880" y="1261872"/>
            <a:ext cx="4983480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80760" y="137160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MX"/>
              </a:rPr>
              <a:t>MOBILIDADE &amp; AGILIDADE EM CAMPO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4617720" cy="42976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DA291C"/>
                </a:solidFill>
                <a:latin typeface="AMX"/>
              </a:rPr>
              <a:t>SPARC MOBILE ANDROID (.APK)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6A34A"/>
                </a:solidFill>
                <a:latin typeface="AMX"/>
              </a:rPr>
              <a:t>✔ 100% Portátil: </a:t>
            </a:r>
            <a:r>
              <a:rPr sz="1150" b="0" i="0">
                <a:solidFill>
                  <a:srgbClr val="111827"/>
                </a:solidFill>
                <a:latin typeface="AMX"/>
              </a:rPr>
              <a:t>Roda no celular corporativo Android do técnico de campo via cabo USB-Serial e adaptador OTG.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6A34A"/>
                </a:solidFill>
                <a:latin typeface="AMX"/>
              </a:rPr>
              <a:t>✔ Validação e Laudo na Ponta: </a:t>
            </a:r>
            <a:r>
              <a:rPr sz="1150" b="0" i="0">
                <a:solidFill>
                  <a:srgbClr val="111827"/>
                </a:solidFill>
                <a:latin typeface="AMX"/>
              </a:rPr>
              <a:t>Afere largura de banda e reporta resultado via arquivo PDF formal com QR Code.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6A34A"/>
                </a:solidFill>
                <a:latin typeface="AMX"/>
              </a:rPr>
              <a:t>✔ Modelo SPARC Tester: </a:t>
            </a:r>
            <a:r>
              <a:rPr sz="1150" b="0" i="0">
                <a:solidFill>
                  <a:srgbClr val="111827"/>
                </a:solidFill>
                <a:latin typeface="AMX"/>
              </a:rPr>
              <a:t>Ideal para parceiros terceirizados apenas validarem a entrega física e a conectividade sem mexer na configuração.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6A34A"/>
                </a:solidFill>
                <a:latin typeface="AMX"/>
              </a:rPr>
              <a:t>✔ Cache de Firmware Offline: </a:t>
            </a:r>
            <a:r>
              <a:rPr sz="1150" b="0" i="0">
                <a:solidFill>
                  <a:srgbClr val="111827"/>
                </a:solidFill>
                <a:latin typeface="AMX"/>
              </a:rPr>
              <a:t>Imagens homologadas salvas na memória interna do aparelho para uso sem internet.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6A34A"/>
                </a:solidFill>
                <a:latin typeface="AMX"/>
              </a:rPr>
              <a:t>✔ Mesma Base Tecnológica: </a:t>
            </a:r>
            <a:r>
              <a:rPr sz="1150" b="0" i="0">
                <a:solidFill>
                  <a:srgbClr val="111827"/>
                </a:solidFill>
                <a:latin typeface="AMX"/>
              </a:rPr>
              <a:t>Compartilha 100% dos algoritmos de detecção, comandos CLI e validação do Windows Desktop.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shape_5_Imagem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_1_shape_9_Imagem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5824728"/>
            <a:ext cx="941832" cy="850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DA291C"/>
                </a:solidFill>
                <a:latin typeface="AMX"/>
              </a:rPr>
              <a:t>🔴  CLARO S.A. — ATIVAÇÃO EMPRESARIAL · SPARC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058400" cy="3840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11827"/>
                </a:solidFill>
                <a:latin typeface="AMX"/>
              </a:rPr>
              <a:t>Os 4 Pilares Estratégicos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B5563"/>
                </a:solidFill>
                <a:latin typeface="AMX"/>
              </a:rPr>
              <a:t>Comparativo focado nas reais dores de campo, flexibilidade e retorno financeiro para a Claro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058400" cy="2286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AMX"/>
              </a:rPr>
              <a:t>SPARC — Sistema de Provisionamento e Ativação de Roteadores Claro  |  Regional SC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61872"/>
            <a:ext cx="2468880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399031"/>
            <a:ext cx="2249424" cy="292608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MX"/>
              </a:rPr>
              <a:t>1. FLEXIBILIDADE DE 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764792"/>
            <a:ext cx="2249424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A291C"/>
                </a:solidFill>
                <a:latin typeface="AMX"/>
              </a:rPr>
              <a:t>Modo Bancada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130552"/>
            <a:ext cx="2249424" cy="3977639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AMX"/>
              </a:rPr>
              <a:t>✔ Zero Dependência do Link: </a:t>
            </a:r>
            <a:r>
              <a:rPr sz="1050" b="0" i="0">
                <a:solidFill>
                  <a:srgbClr val="111827"/>
                </a:solidFill>
                <a:latin typeface="AMX"/>
              </a:rPr>
              <a:t>O SPARC foi concebido sob o paradigma Offline-First, operando de forma 100% autónoma diretamente no terminal do técnico, sem necessidade do enlace de acesso durante as etapas preliminares.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AMX"/>
              </a:rPr>
              <a:t>✔ Cache de Firmware Local: </a:t>
            </a:r>
            <a:r>
              <a:rPr sz="1050" b="0" i="0">
                <a:solidFill>
                  <a:srgbClr val="111827"/>
                </a:solidFill>
                <a:latin typeface="AMX"/>
              </a:rPr>
              <a:t>Imagens homologadas (.bin/.ipe/.out) embarcadas, com atualizações via download sempre que necessário.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AMX"/>
              </a:rPr>
              <a:t>✔ Cabo Serial + Ethernet: </a:t>
            </a:r>
            <a:r>
              <a:rPr sz="1050" b="0" i="0">
                <a:solidFill>
                  <a:srgbClr val="111827"/>
                </a:solidFill>
                <a:latin typeface="AMX"/>
              </a:rPr>
              <a:t>Suporta recuperação de firmwares corrompidos via TFTP nativo, restaura configurações de equipamentos com senhas desconhecidas.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261872"/>
            <a:ext cx="2468880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01568" y="1399031"/>
            <a:ext cx="2249424" cy="292608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MX"/>
              </a:rPr>
              <a:t>2. REDUÇÃO DE CUSTOS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764792"/>
            <a:ext cx="2249424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A291C"/>
                </a:solidFill>
                <a:latin typeface="AMX"/>
              </a:rPr>
              <a:t>Economia Direta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130552"/>
            <a:ext cx="2249424" cy="3977639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AMX"/>
              </a:rPr>
              <a:t>✔ R$ 0 em Licenças: </a:t>
            </a:r>
            <a:r>
              <a:rPr sz="1050" b="0" i="0">
                <a:solidFill>
                  <a:srgbClr val="111827"/>
                </a:solidFill>
                <a:latin typeface="AMX"/>
              </a:rPr>
              <a:t>Ativo 100% interno Claro. Sem custos com licenças, manutenções e implementações.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AMX"/>
              </a:rPr>
              <a:t>✔ Flexibilidade e Abatimento por OS: </a:t>
            </a:r>
            <a:r>
              <a:rPr sz="1050" b="0" i="0">
                <a:solidFill>
                  <a:srgbClr val="111827"/>
                </a:solidFill>
                <a:latin typeface="AMX"/>
              </a:rPr>
              <a:t>Roteador pode sair pronto da base, configurado e testado; permite renegociar o item 'configuração de CPE’.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AMX"/>
              </a:rPr>
              <a:t>✔ Fim das Visitas Perdidas: </a:t>
            </a:r>
            <a:r>
              <a:rPr sz="1050" b="0" i="0">
                <a:solidFill>
                  <a:srgbClr val="111827"/>
                </a:solidFill>
                <a:latin typeface="AMX"/>
              </a:rPr>
              <a:t>Triagem antecipada elimina retrabalho de técnicos por roteador defeituoso.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261872"/>
            <a:ext cx="2468880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61888" y="1399031"/>
            <a:ext cx="2249424" cy="292608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MX"/>
              </a:rPr>
              <a:t>3. AGILIDADE &amp; SUPORTE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1764792"/>
            <a:ext cx="2249424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A291C"/>
                </a:solidFill>
                <a:latin typeface="AMX"/>
              </a:rPr>
              <a:t>Soberania Técnica Claro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2130552"/>
            <a:ext cx="2249424" cy="3977639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AMX"/>
              </a:rPr>
              <a:t>✔ Sem Fila de Fornecedor: </a:t>
            </a:r>
            <a:r>
              <a:rPr sz="1050" b="0" i="0">
                <a:solidFill>
                  <a:srgbClr val="111827"/>
                </a:solidFill>
                <a:latin typeface="AMX"/>
              </a:rPr>
              <a:t>com SPARC dispensamos longas negociações com fornecedores, aditivos contratuais, defesas de CAPEX, prazos dilatados para ajustes e desenvolvimento.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AMX"/>
              </a:rPr>
              <a:t>✔ Desenvolvimento Colaborativo (Co-design): </a:t>
            </a:r>
            <a:r>
              <a:rPr sz="1050" b="0" i="0">
                <a:solidFill>
                  <a:srgbClr val="111827"/>
                </a:solidFill>
                <a:latin typeface="AMX"/>
              </a:rPr>
              <a:t>alinhamento direto e contínuo com os pontos focais da operação, incorporando feedbacks práticos e evoluindo a solução a partir das dores reais vivenciadas pelas equipes de campo.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AMX"/>
              </a:rPr>
              <a:t>✔ Domínio do Conhecimento: </a:t>
            </a:r>
            <a:r>
              <a:rPr sz="1050" b="0" i="0">
                <a:solidFill>
                  <a:srgbClr val="111827"/>
                </a:solidFill>
                <a:latin typeface="AMX"/>
              </a:rPr>
              <a:t>Know-how mantido 100% dentro da Claro; zero risco de dependência tecnológica.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1261872"/>
            <a:ext cx="2468880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22207" y="1399031"/>
            <a:ext cx="2249424" cy="292608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MX"/>
              </a:rPr>
              <a:t>4. TRIAGEM DE HARDWARE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7" y="1764792"/>
            <a:ext cx="2249424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A291C"/>
                </a:solidFill>
                <a:latin typeface="AMX"/>
              </a:rPr>
              <a:t>Blindagem da VU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7" y="2130552"/>
            <a:ext cx="2249424" cy="3977639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AMX"/>
              </a:rPr>
              <a:t>✔ Teste Prévio na Base: </a:t>
            </a:r>
            <a:r>
              <a:rPr sz="1050" b="0" i="0">
                <a:solidFill>
                  <a:srgbClr val="111827"/>
                </a:solidFill>
                <a:latin typeface="AMX"/>
              </a:rPr>
              <a:t>Portas de rede, memória Flash e boot podem ser avaliados antecipadamente com as facilidades do SPARC.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AMX"/>
              </a:rPr>
              <a:t>✔ Substituição Antecipada: </a:t>
            </a:r>
            <a:r>
              <a:rPr sz="1050" b="0" i="0">
                <a:solidFill>
                  <a:srgbClr val="111827"/>
                </a:solidFill>
                <a:latin typeface="AMX"/>
              </a:rPr>
              <a:t>Se houver defeito físico, troca antes de sair para o cliente.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AMX"/>
              </a:rPr>
              <a:t>✔ Entrega Plug &amp; Play: </a:t>
            </a:r>
            <a:r>
              <a:rPr sz="1050" b="0" i="0">
                <a:solidFill>
                  <a:srgbClr val="111827"/>
                </a:solidFill>
                <a:latin typeface="AMX"/>
              </a:rPr>
              <a:t>Roteador sai da base etiquetado, com IP do circuito e firmware homologado gravado.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AMX"/>
              </a:rPr>
              <a:t>✔ Produtividade em Bancada: </a:t>
            </a:r>
            <a:r>
              <a:rPr sz="1050" b="0" i="0">
                <a:solidFill>
                  <a:srgbClr val="111827"/>
                </a:solidFill>
                <a:latin typeface="AMX"/>
              </a:rPr>
              <a:t>Um único técnico interno prepara dezenas de aparelhos/dia em menos de 10 min cada.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shape_5_Imagem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_1_shape_9_Imagem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5824728"/>
            <a:ext cx="941832" cy="850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DA291C"/>
                </a:solidFill>
                <a:latin typeface="AMX"/>
              </a:rPr>
              <a:t>🔴  CLARO S.A. — ATIVAÇÃO EMPRESARIAL · SPARC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058400" cy="3840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11827"/>
                </a:solidFill>
                <a:latin typeface="AMX"/>
              </a:rPr>
              <a:t>Impacto Mensurado, Agilidade de Suporte e Soberania Tecnológica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B5563"/>
                </a:solidFill>
                <a:latin typeface="AMX"/>
              </a:rPr>
              <a:t>Resultados consolidados em campo e comparação da governança de longo prazo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058400" cy="2286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AMX"/>
              </a:rPr>
              <a:t>SPARC — Sistema de Provisionamento e Ativação de Roteadores Claro  |  Regional SC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61872"/>
            <a:ext cx="24231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35024"/>
            <a:ext cx="2240279" cy="47548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DA291C"/>
                </a:solidFill>
                <a:latin typeface="AMX"/>
              </a:rPr>
              <a:t>-88%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10512"/>
            <a:ext cx="2240279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11827"/>
                </a:solidFill>
                <a:latin typeface="AMX"/>
              </a:rPr>
              <a:t>Tempo de Ativação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66543"/>
            <a:ext cx="2240279" cy="47548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4B5563"/>
                </a:solidFill>
                <a:latin typeface="AMX"/>
              </a:rPr>
              <a:t>De ~50 min com técnico experiente para 10 min com instalador por roteador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261872"/>
            <a:ext cx="24231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335024"/>
            <a:ext cx="2240279" cy="47548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16A34A"/>
                </a:solidFill>
                <a:latin typeface="AMX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10512"/>
            <a:ext cx="2240279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11827"/>
                </a:solidFill>
                <a:latin typeface="AMX"/>
              </a:rPr>
              <a:t>Aderência SAIP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066543"/>
            <a:ext cx="2240279" cy="47548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4B5563"/>
                </a:solidFill>
                <a:latin typeface="AMX"/>
              </a:rPr>
              <a:t>Zero erro de digitação de IPs, rotas e máscaras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261872"/>
            <a:ext cx="24231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335024"/>
            <a:ext cx="2240279" cy="47548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16A34A"/>
                </a:solidFill>
                <a:latin typeface="AMX"/>
              </a:rPr>
              <a:t>R$ 0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810512"/>
            <a:ext cx="2240279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11827"/>
                </a:solidFill>
                <a:latin typeface="AMX"/>
              </a:rPr>
              <a:t>Licenças &amp; Servidores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066543"/>
            <a:ext cx="2240279" cy="47548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4B5563"/>
                </a:solidFill>
                <a:latin typeface="AMX"/>
              </a:rPr>
              <a:t>Economia contínua de Capex/Opex de fornecedor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1261872"/>
            <a:ext cx="24231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1335024"/>
            <a:ext cx="2240279" cy="47548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DA291C"/>
                </a:solidFill>
                <a:latin typeface="AMX"/>
              </a:rPr>
              <a:t>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1810512"/>
            <a:ext cx="2240279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11827"/>
                </a:solidFill>
                <a:latin typeface="AMX"/>
              </a:rPr>
              <a:t>Visitas Perdidas por HW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2066543"/>
            <a:ext cx="2240279" cy="47548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4B5563"/>
                </a:solidFill>
                <a:latin typeface="AMX"/>
              </a:rPr>
              <a:t>Triagem prévia na base elimina falhas em campo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743200"/>
            <a:ext cx="498348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2880360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MX"/>
              </a:rPr>
              <a:t>SPARC: SUSTENTAÇÃO ÁGIL INTERNA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291840"/>
            <a:ext cx="4709160" cy="2788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6A34A"/>
                </a:solidFill>
                <a:latin typeface="AMX"/>
              </a:rPr>
              <a:t>✔ Evolução Ágil e Contínua: </a:t>
            </a:r>
            <a:r>
              <a:rPr sz="1100" b="0" i="0">
                <a:solidFill>
                  <a:srgbClr val="111827"/>
                </a:solidFill>
                <a:latin typeface="AMX"/>
              </a:rPr>
              <a:t>Relacionamento direto com pontos focais, feedbacks colaborativos, desenvolvimento conjunto.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6A34A"/>
                </a:solidFill>
                <a:latin typeface="AMX"/>
              </a:rPr>
              <a:t>✔ Suporte Multi-Fabricante: </a:t>
            </a:r>
            <a:r>
              <a:rPr sz="1100" b="0" i="0">
                <a:solidFill>
                  <a:srgbClr val="111827"/>
                </a:solidFill>
                <a:latin typeface="AMX"/>
              </a:rPr>
              <a:t>Agilidade na ampliação do suporte a novos modelos, podendo evoluir para outras tipos de equipamentos como switches de acesso.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6A34A"/>
                </a:solidFill>
                <a:latin typeface="AMX"/>
              </a:rPr>
              <a:t>✔ Soberania Tecnológica: </a:t>
            </a:r>
            <a:r>
              <a:rPr sz="1100" b="0" i="0">
                <a:solidFill>
                  <a:srgbClr val="111827"/>
                </a:solidFill>
                <a:latin typeface="AMX"/>
              </a:rPr>
              <a:t>As soluções desenvolvidas aqui ficam em casa. Código, regras de negócio e inteligência 100% da Claro.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2743200"/>
            <a:ext cx="498348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89320" y="2880360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MX"/>
              </a:rPr>
              <a:t>RISCOS COM MODELOS EXTERNOS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291840"/>
            <a:ext cx="4709160" cy="2788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DA291C"/>
                </a:solidFill>
                <a:latin typeface="AMX"/>
              </a:rPr>
              <a:t>✖ Dependência Crônica de Fornecedor: </a:t>
            </a:r>
            <a:r>
              <a:rPr sz="1100" b="0" i="0">
                <a:solidFill>
                  <a:srgbClr val="111827"/>
                </a:solidFill>
                <a:latin typeface="AMX"/>
              </a:rPr>
              <a:t>Qualquer customização ou novo modelo depende de orçamento adicional e fila de backlog.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DA291C"/>
                </a:solidFill>
                <a:latin typeface="AMX"/>
              </a:rPr>
              <a:t>✖ Contratos periódicos e Reajustes: </a:t>
            </a:r>
            <a:r>
              <a:rPr sz="1100" b="0" i="0">
                <a:solidFill>
                  <a:srgbClr val="111827"/>
                </a:solidFill>
                <a:latin typeface="AMX"/>
              </a:rPr>
              <a:t>Custos recorrentes que encarecem a operação ano a ano (lock-in comercial).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DA291C"/>
                </a:solidFill>
                <a:latin typeface="AMX"/>
              </a:rPr>
              <a:t>✖ Falta de Flexibilidade: </a:t>
            </a:r>
            <a:r>
              <a:rPr sz="1100" b="0" i="0">
                <a:solidFill>
                  <a:srgbClr val="111827"/>
                </a:solidFill>
                <a:latin typeface="AMX"/>
              </a:rPr>
              <a:t>Limitação contratual que impede implementações e ajustes sem renegociações burocráticas.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shape_5_Imagem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_1_shape_9_Imagem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5824728"/>
            <a:ext cx="941832" cy="850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DA291C"/>
                </a:solidFill>
                <a:latin typeface="AMX"/>
              </a:rPr>
              <a:t>🔴  CLARO S.A. — ATIVAÇÃO EMPRESARIAL · SPARC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058400" cy="3840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11827"/>
                </a:solidFill>
                <a:latin typeface="AMX"/>
              </a:rPr>
              <a:t>Oportunidades com Formatos de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B5563"/>
                </a:solidFill>
                <a:latin typeface="AMX"/>
              </a:rPr>
              <a:t>A esteira que desonera contratos terceirizados e garante zero entrega com defeito físico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058400" cy="2286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AMX"/>
              </a:rPr>
              <a:t>SPARC — Sistema de Provisionamento e Ativação de Roteadores Claro  |  Regional SC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61872"/>
            <a:ext cx="4983480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399031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MX"/>
              </a:rPr>
              <a:t>1. SPARC WINDOWS FULL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10512"/>
            <a:ext cx="4709160" cy="2651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11827"/>
                </a:solidFill>
                <a:latin typeface="AMX"/>
              </a:rPr>
              <a:t>Quem opera: </a:t>
            </a:r>
            <a:r>
              <a:rPr sz="1150" b="0" i="0">
                <a:solidFill>
                  <a:srgbClr val="111827"/>
                </a:solidFill>
                <a:latin typeface="AMX"/>
              </a:rPr>
              <a:t>Todos, Assistência Técnica e Ativação própria da Claro permitindo renegociação de contratos LPU.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11827"/>
                </a:solidFill>
                <a:latin typeface="AMX"/>
              </a:rPr>
              <a:t>Onde: </a:t>
            </a:r>
            <a:r>
              <a:rPr sz="1150" b="0" i="0">
                <a:solidFill>
                  <a:srgbClr val="111827"/>
                </a:solidFill>
                <a:latin typeface="AMX"/>
              </a:rPr>
              <a:t>Bancada / Laboratório na Base Regional.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DA291C"/>
                </a:solidFill>
                <a:latin typeface="AMX"/>
              </a:rPr>
              <a:t>Triagem de Hardware: </a:t>
            </a:r>
            <a:r>
              <a:rPr sz="1150" b="0" i="0">
                <a:solidFill>
                  <a:srgbClr val="111827"/>
                </a:solidFill>
                <a:latin typeface="AMX"/>
              </a:rPr>
              <a:t>Testa portas Ethernet, fonte, boot e memórias. </a:t>
            </a:r>
            <a:r>
              <a:rPr sz="1150" b="1" i="0">
                <a:solidFill>
                  <a:srgbClr val="111827"/>
                </a:solidFill>
                <a:latin typeface="AMX"/>
              </a:rPr>
              <a:t>Defeito físico é corrigido/substituído na base antes de ir para a rua.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11827"/>
                </a:solidFill>
                <a:latin typeface="AMX"/>
              </a:rPr>
              <a:t>Tempo Médio: </a:t>
            </a:r>
            <a:r>
              <a:rPr sz="1150" b="0" i="0">
                <a:solidFill>
                  <a:srgbClr val="111827"/>
                </a:solidFill>
                <a:latin typeface="AMX"/>
              </a:rPr>
              <a:t>Menos de 10 minutos por equipamento.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261872"/>
            <a:ext cx="4983480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89320" y="1399031"/>
            <a:ext cx="3657600" cy="292608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MX"/>
              </a:rPr>
              <a:t>2. SPARC TESTER (Técnicos Terceirizados)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810512"/>
            <a:ext cx="4709160" cy="2651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11827"/>
                </a:solidFill>
                <a:latin typeface="AMX"/>
              </a:rPr>
              <a:t>Quem opera: </a:t>
            </a:r>
            <a:r>
              <a:rPr sz="1150" b="0" i="0">
                <a:solidFill>
                  <a:srgbClr val="111827"/>
                </a:solidFill>
                <a:latin typeface="AMX"/>
              </a:rPr>
              <a:t>Empresas parceiras terceirizadas responsáveis pela instalação física.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284C7"/>
                </a:solidFill>
                <a:latin typeface="AMX"/>
              </a:rPr>
              <a:t>O que muda: </a:t>
            </a:r>
            <a:r>
              <a:rPr sz="1150" b="0" i="0">
                <a:solidFill>
                  <a:srgbClr val="111827"/>
                </a:solidFill>
                <a:latin typeface="AMX"/>
              </a:rPr>
              <a:t>Retira do terceiro o acesso privilegiado e a responsabilidade de configurar.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11827"/>
                </a:solidFill>
                <a:latin typeface="AMX"/>
              </a:rPr>
              <a:t>O que é o SPARC Tester: </a:t>
            </a:r>
            <a:r>
              <a:rPr sz="1150" b="0" i="0">
                <a:solidFill>
                  <a:srgbClr val="111827"/>
                </a:solidFill>
                <a:latin typeface="AMX"/>
              </a:rPr>
              <a:t>App ultraleve e blindado para celular corporativo ou notebook.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11827"/>
                </a:solidFill>
                <a:latin typeface="AMX"/>
              </a:rPr>
              <a:t>O que faz: </a:t>
            </a:r>
            <a:r>
              <a:rPr sz="1150" b="0" i="0">
                <a:solidFill>
                  <a:srgbClr val="111827"/>
                </a:solidFill>
                <a:latin typeface="AMX"/>
              </a:rPr>
              <a:t>Valida link, afere largura de banda e gera relatório PDF formal.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36592"/>
            <a:ext cx="10104120" cy="155448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9738360" cy="13258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6A34A"/>
                </a:solidFill>
                <a:latin typeface="AMX"/>
              </a:rPr>
              <a:t>💰 ALAVANCA FINANCEIRA ESTRATÉGICA PARA A CLARO: </a:t>
            </a:r>
            <a:r>
              <a:rPr sz="1300" b="1" i="0">
                <a:solidFill>
                  <a:srgbClr val="111827"/>
                </a:solidFill>
                <a:latin typeface="AMX"/>
              </a:rPr>
              <a:t>REDUÇÃO DIRETA DE CONTRATO POR OS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AMX"/>
              </a:rPr>
              <a:t>Como o parceiro terceirizado </a:t>
            </a:r>
            <a:r>
              <a:rPr sz="1150" b="1" i="0">
                <a:solidFill>
                  <a:srgbClr val="111827"/>
                </a:solidFill>
                <a:latin typeface="AMX"/>
              </a:rPr>
              <a:t>NÃO precisa mais configurar o roteador no cliente </a:t>
            </a:r>
            <a:r>
              <a:rPr sz="1150" b="0" i="0">
                <a:solidFill>
                  <a:srgbClr val="111827"/>
                </a:solidFill>
                <a:latin typeface="AMX"/>
              </a:rPr>
              <a:t>(o equipamento já chega pronto e testado pela base Claro), a Claro ganha respaldo técnico e operacional imediato para </a:t>
            </a:r>
            <a:r>
              <a:rPr sz="1150" b="1" i="0">
                <a:solidFill>
                  <a:srgbClr val="16A34A"/>
                </a:solidFill>
                <a:latin typeface="AMX"/>
              </a:rPr>
              <a:t>renegociar e abater o valor do item 'Configuração de CPE' </a:t>
            </a:r>
            <a:r>
              <a:rPr sz="1150" b="0" i="0">
                <a:solidFill>
                  <a:srgbClr val="111827"/>
                </a:solidFill>
                <a:latin typeface="AMX"/>
              </a:rPr>
              <a:t>pago nas ordens de serviço. Em escala regional e nacional, essa economia cobre com folga qualquer investimento interno!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shape_5_Imagem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_1_shape_9_Imagem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5824728"/>
            <a:ext cx="941832" cy="850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DA291C"/>
                </a:solidFill>
                <a:latin typeface="AMX"/>
              </a:rPr>
              <a:t>🔴  CLARO S.A. — ATIVAÇÃO EMPRESARIAL · SPARC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058400" cy="3840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11827"/>
                </a:solidFill>
                <a:latin typeface="AMX"/>
              </a:rPr>
              <a:t>Scorecard Comparativo: SPARC (Interno) × Panteon (Externo)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B5563"/>
                </a:solidFill>
                <a:latin typeface="AMX"/>
              </a:rPr>
              <a:t>Análise objetiva dos requisitos técnicos, contratuais e operacionais de implantação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058400" cy="2286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AMX"/>
              </a:rPr>
              <a:t>SPARC — Sistema de Provisionamento e Ativação de Roteadores Claro  |  Regional SC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61872"/>
            <a:ext cx="10104120" cy="502920"/>
          </a:xfrm>
          <a:prstGeom prst="roundRect">
            <a:avLst>
              <a:gd name="adj" fmla="val 4000"/>
            </a:avLst>
          </a:prstGeom>
          <a:solidFill>
            <a:srgbClr val="1F293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54864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MX"/>
              </a:rPr>
              <a:t>PLACAR ESTRATÉGICO: </a:t>
            </a:r>
            <a:r>
              <a:rPr sz="1600" b="1" i="0">
                <a:solidFill>
                  <a:srgbClr val="16A34A"/>
                </a:solidFill>
                <a:latin typeface="AMX"/>
              </a:rPr>
              <a:t>SPARC </a:t>
            </a:r>
            <a:r>
              <a:rPr sz="1600" b="1" i="0">
                <a:solidFill>
                  <a:srgbClr val="FFFFFF"/>
                </a:solidFill>
                <a:latin typeface="AMX"/>
              </a:rPr>
              <a:t>10  ×  1 </a:t>
            </a:r>
            <a:r>
              <a:rPr sz="1600" b="1" i="0">
                <a:solidFill>
                  <a:srgbClr val="DA291C"/>
                </a:solidFill>
                <a:latin typeface="AMX"/>
              </a:rPr>
              <a:t>Panteon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53312"/>
            <a:ext cx="44805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AMX"/>
              </a:rPr>
              <a:t>Ampla superioridade em Flexibilidade, Custo Zero e Soberania Técnica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74519"/>
            <a:ext cx="10104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47672"/>
            <a:ext cx="365760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11827"/>
                </a:solidFill>
                <a:latin typeface="AMX"/>
              </a:rPr>
              <a:t>Investimento em Licenças de Software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1920239"/>
            <a:ext cx="2971800" cy="3200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938527"/>
            <a:ext cx="283464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6A34A"/>
                </a:solidFill>
                <a:latin typeface="AMX"/>
              </a:rPr>
              <a:t>✔  </a:t>
            </a:r>
            <a:r>
              <a:rPr sz="1000" b="1" i="0">
                <a:solidFill>
                  <a:srgbClr val="111827"/>
                </a:solidFill>
                <a:latin typeface="AMX"/>
              </a:rPr>
              <a:t>R$ 0 — Ativo proprietário interno Claro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1920239"/>
            <a:ext cx="3017520" cy="32004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938527"/>
            <a:ext cx="288036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A291C"/>
                </a:solidFill>
                <a:latin typeface="AMX"/>
              </a:rPr>
              <a:t>✖  </a:t>
            </a:r>
            <a:r>
              <a:rPr sz="1000" b="0" i="0">
                <a:solidFill>
                  <a:srgbClr val="111827"/>
                </a:solidFill>
                <a:latin typeface="AMX"/>
              </a:rPr>
              <a:t>Alto — Licenças por usuário ou bienais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322576"/>
            <a:ext cx="10104120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395728"/>
            <a:ext cx="365760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11827"/>
                </a:solidFill>
                <a:latin typeface="AMX"/>
              </a:rPr>
              <a:t>Infraestrutura de Servidores Novos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368296"/>
            <a:ext cx="2971800" cy="3200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386584"/>
            <a:ext cx="283464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6A34A"/>
                </a:solidFill>
                <a:latin typeface="AMX"/>
              </a:rPr>
              <a:t>✔  </a:t>
            </a:r>
            <a:r>
              <a:rPr sz="1000" b="1" i="0">
                <a:solidFill>
                  <a:srgbClr val="111827"/>
                </a:solidFill>
                <a:latin typeface="AMX"/>
              </a:rPr>
              <a:t>Zero servidores — Processamento no endpoint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2368296"/>
            <a:ext cx="3017520" cy="32004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2386584"/>
            <a:ext cx="288036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A291C"/>
                </a:solidFill>
                <a:latin typeface="AMX"/>
              </a:rPr>
              <a:t>✖  </a:t>
            </a:r>
            <a:r>
              <a:rPr sz="1000" b="0" i="0">
                <a:solidFill>
                  <a:srgbClr val="111827"/>
                </a:solidFill>
                <a:latin typeface="AMX"/>
              </a:rPr>
              <a:t>Exige 10+ servidores dedicados (Capex/Opex)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770632"/>
            <a:ext cx="10104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2843784"/>
            <a:ext cx="365760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11827"/>
                </a:solidFill>
                <a:latin typeface="AMX"/>
              </a:rPr>
              <a:t>Operação Offline (Sem Link no Cliente)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2816351"/>
            <a:ext cx="2971800" cy="3200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2834639"/>
            <a:ext cx="283464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6A34A"/>
                </a:solidFill>
                <a:latin typeface="AMX"/>
              </a:rPr>
              <a:t>✔  </a:t>
            </a:r>
            <a:r>
              <a:rPr sz="1000" b="1" i="0">
                <a:solidFill>
                  <a:srgbClr val="111827"/>
                </a:solidFill>
                <a:latin typeface="AMX"/>
              </a:rPr>
              <a:t>100% Autônomo via Cache local de firmwares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2816351"/>
            <a:ext cx="3017520" cy="32004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2834639"/>
            <a:ext cx="288036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A291C"/>
                </a:solidFill>
                <a:latin typeface="AMX"/>
              </a:rPr>
              <a:t>✖  </a:t>
            </a:r>
            <a:r>
              <a:rPr sz="1000" b="0" i="0">
                <a:solidFill>
                  <a:srgbClr val="111827"/>
                </a:solidFill>
                <a:latin typeface="AMX"/>
              </a:rPr>
              <a:t>TRAVA — Inviabilizado sem link ativo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218687"/>
            <a:ext cx="10104120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291839"/>
            <a:ext cx="365760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11827"/>
                </a:solidFill>
                <a:latin typeface="AMX"/>
              </a:rPr>
              <a:t>Redução de Custos em Contratos de 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3264407"/>
            <a:ext cx="2971800" cy="3200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3282695"/>
            <a:ext cx="283464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6A34A"/>
                </a:solidFill>
                <a:latin typeface="AMX"/>
              </a:rPr>
              <a:t>✔  </a:t>
            </a:r>
            <a:r>
              <a:rPr sz="1000" b="1" i="0">
                <a:solidFill>
                  <a:srgbClr val="111827"/>
                </a:solidFill>
                <a:latin typeface="AMX"/>
              </a:rPr>
              <a:t>Sim — Roteador sai pronto (abate item de CPE)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26679" y="3264407"/>
            <a:ext cx="3017520" cy="32004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3282695"/>
            <a:ext cx="288036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A291C"/>
                </a:solidFill>
                <a:latin typeface="AMX"/>
              </a:rPr>
              <a:t>✖  </a:t>
            </a:r>
            <a:r>
              <a:rPr sz="1000" b="0" i="0">
                <a:solidFill>
                  <a:srgbClr val="111827"/>
                </a:solidFill>
                <a:latin typeface="AMX"/>
              </a:rPr>
              <a:t>Não — Mantém terceiro configurando no campo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666744"/>
            <a:ext cx="10104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3739896"/>
            <a:ext cx="365760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11827"/>
                </a:solidFill>
                <a:latin typeface="AMX"/>
              </a:rPr>
              <a:t>Triagem Prévia de Hardware em Bancada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3712463"/>
            <a:ext cx="2971800" cy="3200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3730752"/>
            <a:ext cx="283464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6A34A"/>
                </a:solidFill>
                <a:latin typeface="AMX"/>
              </a:rPr>
              <a:t>✔  </a:t>
            </a:r>
            <a:r>
              <a:rPr sz="1000" b="1" i="0">
                <a:solidFill>
                  <a:srgbClr val="111827"/>
                </a:solidFill>
                <a:latin typeface="AMX"/>
              </a:rPr>
              <a:t>Sim — Substituição na base antes da visita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26679" y="3712463"/>
            <a:ext cx="3017520" cy="32004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3730752"/>
            <a:ext cx="288036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A291C"/>
                </a:solidFill>
                <a:latin typeface="AMX"/>
              </a:rPr>
              <a:t>✖  </a:t>
            </a:r>
            <a:r>
              <a:rPr sz="1000" b="0" i="0">
                <a:solidFill>
                  <a:srgbClr val="111827"/>
                </a:solidFill>
                <a:latin typeface="AMX"/>
              </a:rPr>
              <a:t>Não — Descobre falha na frente do cliente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114800"/>
            <a:ext cx="10104120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4187952"/>
            <a:ext cx="365760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11827"/>
                </a:solidFill>
                <a:latin typeface="AMX"/>
              </a:rPr>
              <a:t>Plataformas Operacionais Homologadas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4160520"/>
            <a:ext cx="2971800" cy="3200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60" y="4178808"/>
            <a:ext cx="283464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6A34A"/>
                </a:solidFill>
                <a:latin typeface="AMX"/>
              </a:rPr>
              <a:t>✔  </a:t>
            </a:r>
            <a:r>
              <a:rPr sz="1000" b="1" i="0">
                <a:solidFill>
                  <a:srgbClr val="111827"/>
                </a:solidFill>
                <a:latin typeface="AMX"/>
              </a:rPr>
              <a:t>Windows Desktop (.exe) + Android (.apk)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26679" y="4160520"/>
            <a:ext cx="3017520" cy="32004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18120" y="4178808"/>
            <a:ext cx="288036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A291C"/>
                </a:solidFill>
                <a:latin typeface="AMX"/>
              </a:rPr>
              <a:t>✖  </a:t>
            </a:r>
            <a:r>
              <a:rPr sz="1000" b="0" i="0">
                <a:solidFill>
                  <a:srgbClr val="111827"/>
                </a:solidFill>
                <a:latin typeface="AMX"/>
              </a:rPr>
              <a:t>Apenas Android (sem versão Desktop)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4562856"/>
            <a:ext cx="10104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4636008"/>
            <a:ext cx="365760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11827"/>
                </a:solidFill>
                <a:latin typeface="AMX"/>
              </a:rPr>
              <a:t>Interfaces de Conexão Física em Campo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4608576"/>
            <a:ext cx="2971800" cy="3200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60" y="4626864"/>
            <a:ext cx="283464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6A34A"/>
                </a:solidFill>
                <a:latin typeface="AMX"/>
              </a:rPr>
              <a:t>✔  </a:t>
            </a:r>
            <a:r>
              <a:rPr sz="1000" b="1" i="0">
                <a:solidFill>
                  <a:srgbClr val="111827"/>
                </a:solidFill>
                <a:latin typeface="AMX"/>
              </a:rPr>
              <a:t>Serial CLI + Cabo de Rede Ethernet (TFTP/HTTP)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6679" y="4608576"/>
            <a:ext cx="3017520" cy="32004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4626864"/>
            <a:ext cx="288036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A291C"/>
                </a:solidFill>
                <a:latin typeface="AMX"/>
              </a:rPr>
              <a:t>✖  </a:t>
            </a:r>
            <a:r>
              <a:rPr sz="1000" b="0" i="0">
                <a:solidFill>
                  <a:srgbClr val="111827"/>
                </a:solidFill>
                <a:latin typeface="AMX"/>
              </a:rPr>
              <a:t>Somente Cabo Serial CLI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010912"/>
            <a:ext cx="10104120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5084064"/>
            <a:ext cx="365760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11827"/>
                </a:solidFill>
                <a:latin typeface="AMX"/>
              </a:rPr>
              <a:t>Agilidade para Correções e Novos Modelos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17720" y="5056631"/>
            <a:ext cx="2971800" cy="3200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09160" y="5074920"/>
            <a:ext cx="283464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6A34A"/>
                </a:solidFill>
                <a:latin typeface="AMX"/>
              </a:rPr>
              <a:t>✔  </a:t>
            </a:r>
            <a:r>
              <a:rPr sz="1000" b="1" i="0">
                <a:solidFill>
                  <a:srgbClr val="111827"/>
                </a:solidFill>
                <a:latin typeface="AMX"/>
              </a:rPr>
              <a:t>Horas ou Dias — Equipe de desenvolvimento Claro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26679" y="5056631"/>
            <a:ext cx="3017520" cy="32004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18120" y="5074920"/>
            <a:ext cx="288036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A291C"/>
                </a:solidFill>
                <a:latin typeface="AMX"/>
              </a:rPr>
              <a:t>✖  </a:t>
            </a:r>
            <a:r>
              <a:rPr sz="1000" b="0" i="0">
                <a:solidFill>
                  <a:srgbClr val="111827"/>
                </a:solidFill>
                <a:latin typeface="AMX"/>
              </a:rPr>
              <a:t>Fila de Fornecedor — Depende de SLA/contrato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458968"/>
            <a:ext cx="10104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5532120"/>
            <a:ext cx="365760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11827"/>
                </a:solidFill>
                <a:latin typeface="AMX"/>
              </a:rPr>
              <a:t>Recuperação de Firmware Corrompido / BIOS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17720" y="5504688"/>
            <a:ext cx="2971800" cy="3200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09160" y="5522976"/>
            <a:ext cx="283464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6A34A"/>
                </a:solidFill>
                <a:latin typeface="AMX"/>
              </a:rPr>
              <a:t>✔  </a:t>
            </a:r>
            <a:r>
              <a:rPr sz="1000" b="1" i="0">
                <a:solidFill>
                  <a:srgbClr val="111827"/>
                </a:solidFill>
                <a:latin typeface="AMX"/>
              </a:rPr>
              <a:t>Automática via TFTP integrado na porta WAN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26679" y="5504688"/>
            <a:ext cx="3017520" cy="32004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5522976"/>
            <a:ext cx="288036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A291C"/>
                </a:solidFill>
                <a:latin typeface="AMX"/>
              </a:rPr>
              <a:t>✖  </a:t>
            </a:r>
            <a:r>
              <a:rPr sz="1000" b="0" i="0">
                <a:solidFill>
                  <a:srgbClr val="111827"/>
                </a:solidFill>
                <a:latin typeface="AMX"/>
              </a:rPr>
              <a:t>Não recupera equipamentos sem firmware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5907024"/>
            <a:ext cx="10104120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8680" y="5980176"/>
            <a:ext cx="365760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11827"/>
                </a:solidFill>
                <a:latin typeface="AMX"/>
              </a:rPr>
              <a:t>Integração com Sistemas Corporativos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17720" y="5952744"/>
            <a:ext cx="2971800" cy="32004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09160" y="5971032"/>
            <a:ext cx="283464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284C7"/>
                </a:solidFill>
                <a:latin typeface="AMX"/>
              </a:rPr>
              <a:t>◐  </a:t>
            </a:r>
            <a:r>
              <a:rPr sz="1000" b="1" i="0">
                <a:solidFill>
                  <a:srgbClr val="111827"/>
                </a:solidFill>
                <a:latin typeface="AMX"/>
              </a:rPr>
              <a:t>Via SAIP (PDF/TXT) hoje; API em roadmap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26679" y="5952744"/>
            <a:ext cx="3017520" cy="3200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18120" y="5971032"/>
            <a:ext cx="288036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6A34A"/>
                </a:solidFill>
                <a:latin typeface="AMX"/>
              </a:rPr>
              <a:t>✔  </a:t>
            </a:r>
            <a:r>
              <a:rPr sz="1000" b="0" i="0">
                <a:solidFill>
                  <a:srgbClr val="111827"/>
                </a:solidFill>
                <a:latin typeface="AMX"/>
              </a:rPr>
              <a:t>Homologado via API Corporativa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shape_5_Imagem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_1_shape_9_Imagem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5824728"/>
            <a:ext cx="941832" cy="850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DA291C"/>
                </a:solidFill>
                <a:latin typeface="AMX"/>
              </a:rPr>
              <a:t>🔴  CLARO S.A. — ATIVAÇÃO EMPRESARIAL · SPARC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058400" cy="3840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11827"/>
                </a:solidFill>
                <a:latin typeface="AMX"/>
              </a:rPr>
              <a:t>Recomendações Executivas e Plano de Ação Imediato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B5563"/>
                </a:solidFill>
                <a:latin typeface="AMX"/>
              </a:rPr>
              <a:t>Passos claros e sem burocracia para consolidar a eficiência de campo na Claro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058400" cy="2286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AMX"/>
              </a:rPr>
              <a:t>SPARC — Sistema de Provisionamento e Ativação de Roteadores Claro  |  Regional SC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61872"/>
            <a:ext cx="32004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26463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MX"/>
              </a:rPr>
              <a:t>PASSO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01952"/>
            <a:ext cx="2926080" cy="502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11827"/>
                </a:solidFill>
                <a:latin typeface="AMX"/>
              </a:rPr>
              <a:t>Aprovar Modelo Modular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96312"/>
            <a:ext cx="2926080" cy="1417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4B5563"/>
                </a:solidFill>
                <a:latin typeface="AMX"/>
              </a:rPr>
              <a:t>Implantar o modelo SPARC Full na Assistência Técnica própria da Regional SC para pré-configuração e triagem, e liberar o SPARC Tester aos parceiros.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1261872"/>
            <a:ext cx="32004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1426463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MX"/>
              </a:rPr>
              <a:t>PASSO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1901952"/>
            <a:ext cx="2926080" cy="502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11827"/>
                </a:solidFill>
                <a:latin typeface="AMX"/>
              </a:rPr>
              <a:t>Renegociação Contratual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2496312"/>
            <a:ext cx="2926080" cy="1417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4B5563"/>
                </a:solidFill>
                <a:latin typeface="AMX"/>
              </a:rPr>
              <a:t>Abrir estudo conjunto com Suprimentos/Contratos para abater o item 'Configuração de CPE' nas faturas de empresas terceirizadas de instalação.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261872"/>
            <a:ext cx="32004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0" y="1426463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MX"/>
              </a:rPr>
              <a:t>PASSO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901952"/>
            <a:ext cx="2926080" cy="502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11827"/>
                </a:solidFill>
                <a:latin typeface="AMX"/>
              </a:rPr>
              <a:t>Oficialização Corporativa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496312"/>
            <a:ext cx="2926080" cy="1417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4B5563"/>
                </a:solidFill>
                <a:latin typeface="AMX"/>
              </a:rPr>
              <a:t>Liberar para o SPARC a mesma credencial de API Corporativa já concedida ao Panteon e oficializar a solução como padrão nacional Claro.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10104120" cy="1993392"/>
          </a:xfrm>
          <a:prstGeom prst="roundRect">
            <a:avLst>
              <a:gd name="adj" fmla="val 4000"/>
            </a:avLst>
          </a:prstGeom>
          <a:solidFill>
            <a:srgbClr val="1F2937"/>
          </a:solidFill>
          <a:ln w="1270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62272"/>
            <a:ext cx="9646920" cy="1691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ECACA"/>
                </a:solidFill>
                <a:latin typeface="AMX"/>
              </a:rPr>
              <a:t>RESUMO EXECUTIVO PARA TOMADA DE DECISÃO: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AMX"/>
              </a:rPr>
              <a:t>O </a:t>
            </a:r>
            <a:r>
              <a:rPr sz="1300" b="1" i="0">
                <a:solidFill>
                  <a:srgbClr val="16A34A"/>
                </a:solidFill>
                <a:latin typeface="AMX"/>
              </a:rPr>
              <a:t>SPARC </a:t>
            </a:r>
            <a:r>
              <a:rPr sz="1200" b="0" i="0">
                <a:solidFill>
                  <a:srgbClr val="FFFFFF"/>
                </a:solidFill>
                <a:latin typeface="AMX"/>
              </a:rPr>
              <a:t>entrega uma solução de </a:t>
            </a:r>
            <a:r>
              <a:rPr sz="1200" b="1" i="0">
                <a:solidFill>
                  <a:srgbClr val="FFFFFF"/>
                </a:solidFill>
                <a:latin typeface="AMX"/>
              </a:rPr>
              <a:t>custo zero em licenças e servidores</a:t>
            </a:r>
            <a:r>
              <a:rPr sz="1200" b="0" i="0">
                <a:solidFill>
                  <a:srgbClr val="FFFFFF"/>
                </a:solidFill>
                <a:latin typeface="AMX"/>
              </a:rPr>
              <a:t>, com </a:t>
            </a:r>
            <a:r>
              <a:rPr sz="1200" b="1" i="0">
                <a:solidFill>
                  <a:srgbClr val="FECACA"/>
                </a:solidFill>
                <a:latin typeface="AMX"/>
              </a:rPr>
              <a:t>máxima flexibilidade operacional (100% offline via cache de firmware)</a:t>
            </a:r>
            <a:r>
              <a:rPr sz="1200" b="0" i="0">
                <a:solidFill>
                  <a:srgbClr val="FFFFFF"/>
                </a:solidFill>
                <a:latin typeface="AMX"/>
              </a:rPr>
              <a:t>, </a:t>
            </a:r>
            <a:r>
              <a:rPr sz="1200" b="1" i="0">
                <a:solidFill>
                  <a:srgbClr val="FFFFFF"/>
                </a:solidFill>
                <a:latin typeface="AMX"/>
              </a:rPr>
              <a:t>eliminação de retrabalho por triagem de hardware na base </a:t>
            </a:r>
            <a:r>
              <a:rPr sz="1200" b="0" i="0">
                <a:solidFill>
                  <a:srgbClr val="FFFFFF"/>
                </a:solidFill>
                <a:latin typeface="AMX"/>
              </a:rPr>
              <a:t>e </a:t>
            </a:r>
            <a:r>
              <a:rPr sz="1200" b="1" i="0">
                <a:solidFill>
                  <a:srgbClr val="16A34A"/>
                </a:solidFill>
                <a:latin typeface="AMX"/>
              </a:rPr>
              <a:t>agilidade total de sustentação interna</a:t>
            </a:r>
            <a:r>
              <a:rPr sz="1200" b="0" i="0">
                <a:solidFill>
                  <a:srgbClr val="FFFFFF"/>
                </a:solidFill>
                <a:latin typeface="AMX"/>
              </a:rPr>
              <a:t>. A adoção do SPARC protege o orçamento da Claro, valoriza a equipe técnica própria e alavanca a economia nos contratos terceirizados.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11827"/>
                </a:solidFill>
                <a:latin typeface="AMX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ECACA"/>
                </a:solidFill>
                <a:latin typeface="AMX"/>
              </a:rPr>
              <a:t>Decisão Recomendada: </a:t>
            </a:r>
            <a:r>
              <a:rPr sz="1200" b="1" i="0">
                <a:solidFill>
                  <a:srgbClr val="FFFFFF"/>
                </a:solidFill>
                <a:latin typeface="AMX"/>
              </a:rPr>
              <a:t>Consolidar o SPARC como ativo estratégico prioritário da Claro.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shape_5_Imagem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_1_shape_9_Imagem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5824728"/>
            <a:ext cx="941832" cy="850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011680"/>
            <a:ext cx="9445752" cy="10058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6000" b="1" i="0">
                <a:solidFill>
                  <a:srgbClr val="FFFFFF"/>
                </a:solidFill>
                <a:latin typeface="AMX"/>
              </a:rPr>
              <a:t>SPARC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45752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ECACA"/>
                </a:solidFill>
                <a:latin typeface="AMX"/>
              </a:rPr>
              <a:t>Sistema de Provisionamento e Ativação de Roteadores da CLARO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445752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AMX"/>
              </a:rPr>
              <a:t>Obrigado!  |  Regional Santa Catarina  |  george.calcmann@claro.com.br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