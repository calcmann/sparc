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Apresentação Executiva do SPARC: Destacar à liderança que se trata de uma plataforma in-house da Claro, já funcional em Santa Catarina, construída para mitigar a dependência de capacitação intermediária de campo, agilizar a entrega do projeto Visita Única e preparar o terreno para a economia em escala.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o contraste operacional: o processo anterior era lento, fragmentado e gerava chamados de apoio. A esteira SPARC unifica todo o ciclo em um fluxo digital automatizado com menos de 10 minutos.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Métricas concretas: 88% de redução de tempo, conformidade total do SAIP e eliminação de ferramentas dispersas. O modo bancada é a grande chave para a desoneração operacional.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Apresentar a maturidade do roadmap: 75% a 80% dos módulos avançados já estão desenvolvidos, e as projeções futuras contemplam a integração com os sistemas corporativos Claro e a governança central.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Transição para o comparativo com a solução de mercado: usar tom equilibrado. O Panteon atende ao modelo tradicional em campo com link, mas o SPARC oferece uma abordagem operacional superior: triagem prévia na base, preparo offline e desoneração contratual de terceiros.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é o slide de maior peso para a liderança: explicar que o modelo modular (Full + Tester) cria uma alavanca financeira direta com terceiros e blinda a operação de campo.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Apresentar as 4 alavancas de eficiência de forma clara: contratos de terceiros, ausência de novas licenças, aproveitamento da infraestrutura existente e eliminação de visitas perdidas.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Reforçar que o SPARC não é uma ideia teórica ou protótipo: já é uma ferramenta prática, testada e em operação que entrega resultados mensuráveis no dia a dia.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Apresentar a matriz de forma elegante: não se trata de depreciar a solução de mercado, mas de mostrar que a abordagem interna do SPARC atende muito melhor aos objetivos estratégicos e financeiros da Claro.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liderança valoriza transparência: deixar claro que as lacunas não são limitações tecnológicas, mas sim liberações formais de insumos internos da própria Claro (layout de script e credencial de API).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Fechamento forte e propositivo: solicitar formalmente o apoio da liderança para os 4 passos e reiterar que a Claro ganha soberania técnica e economia real em escala.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813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51560" y="457200"/>
            <a:ext cx="3474720" cy="384048"/>
          </a:xfrm>
          <a:prstGeom prst="roundRect">
            <a:avLst>
              <a:gd name="adj" fmla="val 50000"/>
            </a:avLst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🔴  CLARO S.A. — ATIVAÇÃO SC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960120"/>
            <a:ext cx="9144000" cy="9144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5400" b="1" i="0">
                <a:solidFill>
                  <a:srgbClr val="FFFFFF"/>
                </a:solidFill>
                <a:latin typeface="Segoe UI"/>
              </a:rPr>
              <a:t>SPARC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965960"/>
            <a:ext cx="100584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FAE8EB"/>
                </a:solidFill>
                <a:latin typeface="Segoe UI"/>
              </a:rPr>
              <a:t>Sistema de Provisionamento e Ativação de Roteadores Claro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560320"/>
            <a:ext cx="6949440" cy="32918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Segoe UI"/>
              </a:rPr>
              <a:t>Plataforma autônoma para apoio técnico em processos de Ativações Empresariais B2B de campo, </a:t>
            </a:r>
            <a:r>
              <a:rPr sz="1400" b="1" i="0">
                <a:solidFill>
                  <a:srgbClr val="FFFFFF"/>
                </a:solidFill>
                <a:latin typeface="Segoe UI"/>
              </a:rPr>
              <a:t>focada em eficiência operacional, custo marginal zero, alta adaptabilidade e escalabilidade.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AE8EB"/>
                </a:solidFill>
                <a:latin typeface="Segoe UI"/>
              </a:rPr>
              <a:t>✔ </a:t>
            </a:r>
            <a:r>
              <a:rPr sz="1300" b="1" i="0">
                <a:solidFill>
                  <a:srgbClr val="FFFFFF"/>
                </a:solidFill>
                <a:latin typeface="Segoe UI"/>
              </a:rPr>
              <a:t>Recuperação de roteadores: </a:t>
            </a:r>
            <a:r>
              <a:rPr sz="1300" b="0" i="0">
                <a:solidFill>
                  <a:srgbClr val="FFFFFF"/>
                </a:solidFill>
                <a:latin typeface="Segoe UI"/>
              </a:rPr>
              <a:t>Restauração ágil de senhas, configs legadas e firmwares corrompidos.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AE8EB"/>
                </a:solidFill>
                <a:latin typeface="Segoe UI"/>
              </a:rPr>
              <a:t>✔ </a:t>
            </a:r>
            <a:r>
              <a:rPr sz="1300" b="1" i="0">
                <a:solidFill>
                  <a:srgbClr val="FFFFFF"/>
                </a:solidFill>
                <a:latin typeface="Segoe UI"/>
              </a:rPr>
              <a:t>Upgrades online e locais de firmwares: </a:t>
            </a:r>
            <a:r>
              <a:rPr sz="1300" b="0" i="0">
                <a:solidFill>
                  <a:srgbClr val="FFFFFF"/>
                </a:solidFill>
                <a:latin typeface="Segoe UI"/>
              </a:rPr>
              <a:t>Servidores TFTP/HTTP integrados sem softwares adicionais.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AE8EB"/>
                </a:solidFill>
                <a:latin typeface="Segoe UI"/>
              </a:rPr>
              <a:t>✔ </a:t>
            </a:r>
            <a:r>
              <a:rPr sz="1300" b="1" i="0">
                <a:solidFill>
                  <a:srgbClr val="FFFFFF"/>
                </a:solidFill>
                <a:latin typeface="Segoe UI"/>
              </a:rPr>
              <a:t>Parametrização automatizada: </a:t>
            </a:r>
            <a:r>
              <a:rPr sz="1300" b="0" i="0">
                <a:solidFill>
                  <a:srgbClr val="FFFFFF"/>
                </a:solidFill>
                <a:latin typeface="Segoe UI"/>
              </a:rPr>
              <a:t>Importação direta de dados técnicos do SAIP (PDF/TXT) com zero erro manual.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AE8EB"/>
                </a:solidFill>
                <a:latin typeface="Segoe UI"/>
              </a:rPr>
              <a:t>✔ </a:t>
            </a:r>
            <a:r>
              <a:rPr sz="1300" b="1" i="0">
                <a:solidFill>
                  <a:srgbClr val="FFFFFF"/>
                </a:solidFill>
                <a:latin typeface="Segoe UI"/>
              </a:rPr>
              <a:t>Homologação técnica de serviços: </a:t>
            </a:r>
            <a:r>
              <a:rPr sz="1300" b="0" i="0">
                <a:solidFill>
                  <a:srgbClr val="FFFFFF"/>
                </a:solidFill>
                <a:latin typeface="Segoe UI"/>
              </a:rPr>
              <a:t>Auditoria automática de conectividade e emissão de laudo formal.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AE8EB"/>
                </a:solidFill>
                <a:latin typeface="Segoe UI"/>
              </a:rPr>
              <a:t>Foco Estratégico: </a:t>
            </a:r>
            <a:r>
              <a:rPr sz="1300" b="0" i="0">
                <a:solidFill>
                  <a:srgbClr val="FFFFFF"/>
                </a:solidFill>
                <a:latin typeface="Segoe UI"/>
              </a:rPr>
              <a:t>Preenchimento de lacunas técnicas em campo, forte sinergia com o projeto </a:t>
            </a:r>
            <a:r>
              <a:rPr sz="1300" b="1" i="0">
                <a:solidFill>
                  <a:srgbClr val="FFFFFF"/>
                </a:solidFill>
                <a:latin typeface="Segoe UI"/>
              </a:rPr>
              <a:t>Visita Única</a:t>
            </a:r>
            <a:r>
              <a:rPr sz="1300" b="0" i="0">
                <a:solidFill>
                  <a:srgbClr val="FFFFFF"/>
                </a:solidFill>
                <a:latin typeface="Segoe UI"/>
              </a:rPr>
              <a:t> e flexibilização contínua de capacitação.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2743200"/>
            <a:ext cx="310896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parc_logo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2971800"/>
            <a:ext cx="2651760" cy="202319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51560" y="6126480"/>
            <a:ext cx="100584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AE8EB"/>
                </a:solidFill>
                <a:latin typeface="Segoe UI"/>
              </a:rPr>
              <a:t>Instalação Empresarial - Ativação  |  Regional Santa Catarina  |  george.calcmann@claro.com.br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8813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AE8EB"/>
                </a:solidFill>
                <a:latin typeface="Segoe UI"/>
              </a:rPr>
              <a:t>🔴 CLARO S.A. — ATIVAÇÃO SC · SPARC BETA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Segoe UI"/>
              </a:rPr>
              <a:t>Contexto Operacional: Transformando a Ativação de Circuitos B2B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475569"/>
                </a:solidFill>
                <a:latin typeface="Segoe UI"/>
              </a:rPr>
              <a:t>SPARC — Sistema de Provisionamento e Ativação de Roteadores Claro  |  george.calcmann@claro.com.br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25880"/>
            <a:ext cx="5257800" cy="4892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325880"/>
            <a:ext cx="5257800" cy="50292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  <a:latin typeface="Segoe UI"/>
              </a:rPr>
              <a:t>❌ Processo Manual Anterior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965960"/>
            <a:ext cx="4800600" cy="4069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991B1B"/>
                </a:solidFill>
                <a:latin typeface="Segoe UI"/>
              </a:rPr>
              <a:t>• Diálogo Técnico Complexo: </a:t>
            </a:r>
            <a:r>
              <a:rPr sz="1250" b="0" i="0">
                <a:solidFill>
                  <a:srgbClr val="0F172A"/>
                </a:solidFill>
                <a:latin typeface="Segoe UI"/>
              </a:rPr>
              <a:t>Fricção e tempo elevado na comunicação entre o suporte CLARO e o técnico de campo.</a:t>
            </a:r>
          </a:p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• Tempo Médio Elevado: </a:t>
            </a:r>
            <a:r>
              <a:rPr sz="1250" b="0" i="0">
                <a:solidFill>
                  <a:srgbClr val="0F172A"/>
                </a:solidFill>
                <a:latin typeface="Segoe UI"/>
              </a:rPr>
              <a:t>Procedimentos manuais de atualização e testes consumiam ~50 minutos por roteador.</a:t>
            </a:r>
          </a:p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• Fricção com Senhas Desconhecidas: </a:t>
            </a:r>
            <a:r>
              <a:rPr sz="1250" b="0" i="0">
                <a:solidFill>
                  <a:srgbClr val="0F172A"/>
                </a:solidFill>
                <a:latin typeface="Segoe UI"/>
              </a:rPr>
              <a:t>Necessidade de resets forçados via sequências manuais complexas em bootloader.</a:t>
            </a:r>
          </a:p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• Dispersão de Ferramentas: </a:t>
            </a:r>
            <a:r>
              <a:rPr sz="1250" b="0" i="0">
                <a:solidFill>
                  <a:srgbClr val="0F172A"/>
                </a:solidFill>
                <a:latin typeface="Segoe UI"/>
              </a:rPr>
              <a:t>Operador dependia de PuTTY, TFTPD32, calculadoras de IP, scripts soltos e múltiplos arquivos.</a:t>
            </a:r>
          </a:p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• Risco de Inconsistência Manual: </a:t>
            </a:r>
            <a:r>
              <a:rPr sz="1250" b="0" i="0">
                <a:solidFill>
                  <a:srgbClr val="0F172A"/>
                </a:solidFill>
                <a:latin typeface="Segoe UI"/>
              </a:rPr>
              <a:t>Digitação de máscaras, rotas e IPs WAN/LAN sujeita a erro humano e revisitas.</a:t>
            </a:r>
          </a:p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• Validação e Ajustes Manuais: </a:t>
            </a:r>
            <a:r>
              <a:rPr sz="1250" b="0" i="0">
                <a:solidFill>
                  <a:srgbClr val="0F172A"/>
                </a:solidFill>
                <a:latin typeface="Segoe UI"/>
              </a:rPr>
              <a:t>Ajustes manuais no Windows, testes manuais de banda e validação empírica de conectividade.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325880"/>
            <a:ext cx="5257800" cy="4892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1325880"/>
            <a:ext cx="5257800" cy="5029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  <a:latin typeface="Segoe UI"/>
              </a:rPr>
              <a:t>⚡ Solução com a Esteira SPARC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1965960"/>
            <a:ext cx="4800600" cy="4069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16A34A"/>
                </a:solidFill>
                <a:latin typeface="Segoe UI"/>
              </a:rPr>
              <a:t>• Intermediação Eficiente: </a:t>
            </a:r>
            <a:r>
              <a:rPr sz="1250" b="0" i="0">
                <a:solidFill>
                  <a:srgbClr val="0F172A"/>
                </a:solidFill>
                <a:latin typeface="Segoe UI"/>
              </a:rPr>
              <a:t>Automação guiada que simplifica a interface entre o analista Claro e o operador de campo.</a:t>
            </a:r>
          </a:p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• Agilidade Comprovada: </a:t>
            </a:r>
            <a:r>
              <a:rPr sz="1250" b="0" i="0">
                <a:solidFill>
                  <a:srgbClr val="0F172A"/>
                </a:solidFill>
                <a:latin typeface="Segoe UI"/>
              </a:rPr>
              <a:t>Provisionamento completo em bancada ou campo em menos de 10 minutos com poucos cliques.</a:t>
            </a:r>
          </a:p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• Recuperação Automatizada: </a:t>
            </a:r>
            <a:r>
              <a:rPr sz="1250" b="0" i="0">
                <a:solidFill>
                  <a:srgbClr val="0F172A"/>
                </a:solidFill>
                <a:latin typeface="Segoe UI"/>
              </a:rPr>
              <a:t>Desbloqueio de roteadores, limpeza de configurações residuais e suporte a firmwares corrompidos.</a:t>
            </a:r>
          </a:p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• Servidor TFTP/HTTP 100% Integrado: </a:t>
            </a:r>
            <a:r>
              <a:rPr sz="1250" b="0" i="0">
                <a:solidFill>
                  <a:srgbClr val="0F172A"/>
                </a:solidFill>
                <a:latin typeface="Segoe UI"/>
              </a:rPr>
              <a:t>Streaming nativo embarcado no aplicativo, eliminando a dependência de softwares paralelos.</a:t>
            </a:r>
          </a:p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• Importação Direta do SAIP: </a:t>
            </a:r>
            <a:r>
              <a:rPr sz="1250" b="0" i="0">
                <a:solidFill>
                  <a:srgbClr val="0F172A"/>
                </a:solidFill>
                <a:latin typeface="Segoe UI"/>
              </a:rPr>
              <a:t>Extração automática de parâmetros a partir de PDF/TXT, eliminando erros de digitação.</a:t>
            </a:r>
          </a:p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• Auditoria e Testes Automáticos: </a:t>
            </a:r>
            <a:r>
              <a:rPr sz="1250" b="0" i="0">
                <a:solidFill>
                  <a:srgbClr val="0F172A"/>
                </a:solidFill>
                <a:latin typeface="Segoe UI"/>
              </a:rPr>
              <a:t>Configura placa de rede automaticamente, testa ICMP, Telnet/SSH e homologa a banda.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8813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AE8EB"/>
                </a:solidFill>
                <a:latin typeface="Segoe UI"/>
              </a:rPr>
              <a:t>🔴 CLARO S.A. — ATIVAÇÃO SC · SPARC BETA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Segoe UI"/>
              </a:rPr>
              <a:t>Impacto Operacional e Métricas de Produtividade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475569"/>
                </a:solidFill>
                <a:latin typeface="Segoe UI"/>
              </a:rPr>
              <a:t>SPARC — Sistema de Provisionamento e Ativação de Roteadores Claro  |  george.calcmann@claro.com.br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25880"/>
            <a:ext cx="2523744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325880"/>
            <a:ext cx="2523744" cy="9144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463040"/>
            <a:ext cx="2523744" cy="6858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 i="0">
                <a:solidFill>
                  <a:srgbClr val="DA291C"/>
                </a:solidFill>
                <a:latin typeface="Segoe UI"/>
              </a:rPr>
              <a:t>-88%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194560"/>
            <a:ext cx="2340864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 i="0">
                <a:solidFill>
                  <a:srgbClr val="0F172A"/>
                </a:solidFill>
                <a:latin typeface="Segoe UI"/>
              </a:rPr>
              <a:t>Redução de Tempo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560320"/>
            <a:ext cx="2340864" cy="7772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475569"/>
                </a:solidFill>
                <a:latin typeface="Segoe UI"/>
              </a:rPr>
              <a:t>De ~50 min para &lt; 10 min por roteador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325880"/>
            <a:ext cx="2523744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325880"/>
            <a:ext cx="2523744" cy="914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56432" y="1463040"/>
            <a:ext cx="2523744" cy="6858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 i="0">
                <a:solidFill>
                  <a:srgbClr val="16A34A"/>
                </a:solidFill>
                <a:latin typeface="Segoe UI"/>
              </a:rPr>
              <a:t>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47872" y="2194560"/>
            <a:ext cx="2340864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 i="0">
                <a:solidFill>
                  <a:srgbClr val="0F172A"/>
                </a:solidFill>
                <a:latin typeface="Segoe UI"/>
              </a:rPr>
              <a:t>Aderência Padrão Claro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47872" y="2560320"/>
            <a:ext cx="2340864" cy="7772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475569"/>
                </a:solidFill>
                <a:latin typeface="Segoe UI"/>
              </a:rPr>
              <a:t>Zero falhas de digitação em IPs, rotas e dados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81344" y="1325880"/>
            <a:ext cx="2523744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81344" y="1325880"/>
            <a:ext cx="2523744" cy="9144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81344" y="1463040"/>
            <a:ext cx="2523744" cy="6858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 i="0">
                <a:solidFill>
                  <a:srgbClr val="0284C7"/>
                </a:solidFill>
                <a:latin typeface="Segoe UI"/>
              </a:rPr>
              <a:t>1 App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2783" y="2194560"/>
            <a:ext cx="2340864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 i="0">
                <a:solidFill>
                  <a:srgbClr val="0F172A"/>
                </a:solidFill>
                <a:latin typeface="Segoe UI"/>
              </a:rPr>
              <a:t>Solução Portátil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2783" y="2560320"/>
            <a:ext cx="2340864" cy="7772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475569"/>
                </a:solidFill>
                <a:latin typeface="Segoe UI"/>
              </a:rPr>
              <a:t>Substitui PuTTY, TFTPD32, scripts e calculadoras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6256" y="1325880"/>
            <a:ext cx="2523744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6256" y="1325880"/>
            <a:ext cx="2523744" cy="91440"/>
          </a:xfrm>
          <a:prstGeom prst="rect">
            <a:avLst/>
          </a:prstGeom>
          <a:solidFill>
            <a:srgbClr val="8813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06256" y="1463040"/>
            <a:ext cx="2523744" cy="6858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 i="0">
                <a:solidFill>
                  <a:srgbClr val="881337"/>
                </a:solidFill>
                <a:latin typeface="Segoe UI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97696" y="2194560"/>
            <a:ext cx="2340864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 i="0">
                <a:solidFill>
                  <a:srgbClr val="0F172A"/>
                </a:solidFill>
                <a:latin typeface="Segoe UI"/>
              </a:rPr>
              <a:t>Plataformas Nativas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97696" y="2560320"/>
            <a:ext cx="2340864" cy="7772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475569"/>
                </a:solidFill>
                <a:latin typeface="Segoe UI"/>
              </a:rPr>
              <a:t>Operação híbrida em Windows (.exe) e Android (.apk)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3703320"/>
            <a:ext cx="10728655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8813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1520" y="3703320"/>
            <a:ext cx="10728655" cy="457200"/>
          </a:xfrm>
          <a:prstGeom prst="rect">
            <a:avLst/>
          </a:prstGeom>
          <a:solidFill>
            <a:srgbClr val="8813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💡 Benefícios Estratégicos para a Operação Claro S.A.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4297680"/>
            <a:ext cx="10268712" cy="1783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881337"/>
                </a:solidFill>
                <a:latin typeface="Segoe UI"/>
              </a:rPr>
              <a:t>• Escalabilidade de Ativação (Modo Bancada): </a:t>
            </a:r>
            <a:r>
              <a:rPr sz="1250" b="0" i="0">
                <a:solidFill>
                  <a:srgbClr val="0F172A"/>
                </a:solidFill>
                <a:latin typeface="Segoe UI"/>
              </a:rPr>
              <a:t>Possibilidade de trabalho em laboratório regional, onde um único técnico prepara dezenas de roteadores diariamente com alto padrão de qualidade, entregando os equipamentos pré-configurados para as equipes de campo, ou realizando o processo completo in loco conforme a necessidade.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0F172A"/>
                </a:solidFill>
                <a:latin typeface="Segoe U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881337"/>
                </a:solidFill>
                <a:latin typeface="Segoe UI"/>
              </a:rPr>
              <a:t>• Facilidade de Uso e Mitigação de Treinamento: </a:t>
            </a:r>
            <a:r>
              <a:rPr sz="1250" b="0" i="0">
                <a:solidFill>
                  <a:srgbClr val="0F172A"/>
                </a:solidFill>
                <a:latin typeface="Segoe UI"/>
              </a:rPr>
              <a:t>Interface visual intuitiva com indicação em tempo real de progresso e status, permitindo que operadores executem procedimentos de alta complexidade com segurança e rapidez.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0F172A"/>
                </a:solidFill>
                <a:latin typeface="Segoe U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881337"/>
                </a:solidFill>
                <a:latin typeface="Segoe UI"/>
              </a:rPr>
              <a:t>• Maximização do Projeto Visita Única: </a:t>
            </a:r>
            <a:r>
              <a:rPr sz="1250" b="0" i="0">
                <a:solidFill>
                  <a:srgbClr val="0F172A"/>
                </a:solidFill>
                <a:latin typeface="Segoe UI"/>
              </a:rPr>
              <a:t>Padronização técnica rigorosa que elimina retrabalho, reduz cancelamentos de ativação e garante conformidade na entrega inicial.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8813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AE8EB"/>
                </a:solidFill>
                <a:latin typeface="Segoe UI"/>
              </a:rPr>
              <a:t>🔴 CLARO S.A. — ATIVAÇÃO SC · SPARC BETA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Segoe UI"/>
              </a:rPr>
              <a:t>Roadmap de Evolução: Da Ativação Local à Integração Corporativa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475569"/>
                </a:solidFill>
                <a:latin typeface="Segoe UI"/>
              </a:rPr>
              <a:t>SPARC — Sistema de Provisionamento e Ativação de Roteadores Claro  |  george.calcmann@claro.com.br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25880"/>
            <a:ext cx="5257800" cy="4892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325880"/>
            <a:ext cx="5257800" cy="50292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🚀 Roadmap de Evolução — Entregas em Andamento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965960"/>
            <a:ext cx="4800600" cy="4069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0284C7"/>
                </a:solidFill>
                <a:latin typeface="Segoe UI"/>
              </a:rPr>
              <a:t>📱 SPARC Móvel Android (75% concluído): </a:t>
            </a:r>
            <a:r>
              <a:rPr sz="1250" b="0" i="0">
                <a:solidFill>
                  <a:srgbClr val="0F172A"/>
                </a:solidFill>
                <a:latin typeface="Segoe UI"/>
              </a:rPr>
              <a:t>Em processo de refinamento operacional. Permite atuação completa com smartphone corporativo.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0F172A"/>
                </a:solidFill>
                <a:latin typeface="Segoe U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0284C7"/>
                </a:solidFill>
                <a:latin typeface="Segoe UI"/>
              </a:rPr>
              <a:t>☁️ Repositório Online Homologado: </a:t>
            </a:r>
            <a:r>
              <a:rPr sz="1250" b="0" i="0">
                <a:solidFill>
                  <a:srgbClr val="0F172A"/>
                </a:solidFill>
                <a:latin typeface="Segoe UI"/>
              </a:rPr>
              <a:t>Elimina a gestão manual de arquivos pelos técnicos. Totalmente funcional e em fase de homologação.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0F172A"/>
                </a:solidFill>
                <a:latin typeface="Segoe U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0284C7"/>
                </a:solidFill>
                <a:latin typeface="Segoe UI"/>
              </a:rPr>
              <a:t>🧪 Aferições Avançadas &amp; Certidões (80% concluído): </a:t>
            </a:r>
            <a:r>
              <a:rPr sz="1250" b="0" i="0">
                <a:solidFill>
                  <a:srgbClr val="0F172A"/>
                </a:solidFill>
                <a:latin typeface="Segoe UI"/>
              </a:rPr>
              <a:t>Certidões de entrega sem necessidade de aparelhos dedicados caros (JDSU/Viavi), com loop lógico e testes via LAN com um clique.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0F172A"/>
                </a:solidFill>
                <a:latin typeface="Segoe U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0284C7"/>
                </a:solidFill>
                <a:latin typeface="Segoe UI"/>
              </a:rPr>
              <a:t>🔧 Funções de Assistência e Manutenção (70% concluído): </a:t>
            </a:r>
            <a:r>
              <a:rPr sz="1250" b="0" i="0">
                <a:solidFill>
                  <a:srgbClr val="0F172A"/>
                </a:solidFill>
                <a:latin typeface="Segoe UI"/>
              </a:rPr>
              <a:t>Rotinas adicionais para equipamentos ativos, atualizações periódicas e recuperação de equipamentos em laboratório.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325880"/>
            <a:ext cx="5257800" cy="4892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1325880"/>
            <a:ext cx="5257800" cy="502920"/>
          </a:xfrm>
          <a:prstGeom prst="rect">
            <a:avLst/>
          </a:prstGeom>
          <a:solidFill>
            <a:srgbClr val="8813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🎯 Roadmap de Evolução — Projeção &amp; Integrações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1965960"/>
            <a:ext cx="4800600" cy="4069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881337"/>
                </a:solidFill>
                <a:latin typeface="Segoe UI"/>
              </a:rPr>
              <a:t>🔗 Integração com Sistemas Corporativos Claro: </a:t>
            </a:r>
            <a:r>
              <a:rPr sz="1250" b="0" i="0">
                <a:solidFill>
                  <a:srgbClr val="0F172A"/>
                </a:solidFill>
                <a:latin typeface="Segoe UI"/>
              </a:rPr>
              <a:t>A partir do identificador da Ordem de Serviço (OS), consulta automática de parâmetros técnicos, baixa de status e atualização sistêmica em tempo real.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0F172A"/>
                </a:solidFill>
                <a:latin typeface="Segoe U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881337"/>
                </a:solidFill>
                <a:latin typeface="Segoe UI"/>
              </a:rPr>
              <a:t>🔐 Acesso a Banco de Credenciais Protegido: </a:t>
            </a:r>
            <a:r>
              <a:rPr sz="1250" b="0" i="0">
                <a:solidFill>
                  <a:srgbClr val="0F172A"/>
                </a:solidFill>
                <a:latin typeface="Segoe UI"/>
              </a:rPr>
              <a:t>Consulta segura a cofres de senhas corporativos sem necessidade de divulgação ao operador de campo.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0F172A"/>
                </a:solidFill>
                <a:latin typeface="Segoe U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881337"/>
                </a:solidFill>
                <a:latin typeface="Segoe UI"/>
              </a:rPr>
              <a:t>🌐 Expansão para Equipamentos de Acesso: </a:t>
            </a:r>
            <a:r>
              <a:rPr sz="1250" b="0" i="0">
                <a:solidFill>
                  <a:srgbClr val="0F172A"/>
                </a:solidFill>
                <a:latin typeface="Segoe UI"/>
              </a:rPr>
              <a:t>Inclusão de suporte automatizado para switches e dispositivos de rede de diferentes portes e fabricantes.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0F172A"/>
                </a:solidFill>
                <a:latin typeface="Segoe U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881337"/>
                </a:solidFill>
                <a:latin typeface="Segoe UI"/>
              </a:rPr>
              <a:t>🏢 Adoção Institucional em Escala: </a:t>
            </a:r>
            <a:r>
              <a:rPr sz="1250" b="0" i="0">
                <a:solidFill>
                  <a:srgbClr val="0F172A"/>
                </a:solidFill>
                <a:latin typeface="Segoe UI"/>
              </a:rPr>
              <a:t>Disponibilização da plataforma para as demais regionais Claro sob diretrizes de governança corporativa.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813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51560" y="457200"/>
            <a:ext cx="3474720" cy="384048"/>
          </a:xfrm>
          <a:prstGeom prst="roundRect">
            <a:avLst>
              <a:gd name="adj" fmla="val 50000"/>
            </a:avLst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🔴  CLARO S.A. — ATIVAÇÃO SC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960120"/>
            <a:ext cx="9144000" cy="9144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5400" b="1" i="0">
                <a:solidFill>
                  <a:srgbClr val="FFFFFF"/>
                </a:solidFill>
                <a:latin typeface="Segoe UI"/>
              </a:rPr>
              <a:t>SPARC × Panteon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965960"/>
            <a:ext cx="100584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FAE8EB"/>
                </a:solidFill>
                <a:latin typeface="Segoe UI"/>
              </a:rPr>
              <a:t>Decisão Estratégica: Eficiência Operacional, Modularidade e Racionalização de Custos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560320"/>
            <a:ext cx="10241280" cy="32918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Como simplificar a operação de campo, economizar recursos contratuais e blindar a entrega contra falhas?</a:t>
            </a:r>
          </a:p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FAE8EB"/>
                </a:solidFill>
                <a:latin typeface="Segoe UI"/>
              </a:rPr>
              <a:t>✔ </a:t>
            </a:r>
            <a:r>
              <a:rPr sz="1350" b="1" i="0">
                <a:solidFill>
                  <a:srgbClr val="FFFFFF"/>
                </a:solidFill>
                <a:latin typeface="Segoe UI"/>
              </a:rPr>
              <a:t>Racionalização de Custos Contratuais: </a:t>
            </a:r>
            <a:r>
              <a:rPr sz="1350" b="0" i="0">
                <a:solidFill>
                  <a:srgbClr val="FFFFFF"/>
                </a:solidFill>
                <a:latin typeface="Segoe UI"/>
              </a:rPr>
              <a:t>Roteador já sai preparado da base Claro, permitindo rever a necessidade e o valor de remuneração de configuração nas ordens de serviço terceirizadas.</a:t>
            </a:r>
          </a:p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FAE8EB"/>
                </a:solidFill>
                <a:latin typeface="Segoe UI"/>
              </a:rPr>
              <a:t>✔ </a:t>
            </a:r>
            <a:r>
              <a:rPr sz="1350" b="1" i="0">
                <a:solidFill>
                  <a:srgbClr val="FFFFFF"/>
                </a:solidFill>
                <a:latin typeface="Segoe UI"/>
              </a:rPr>
              <a:t>Triagem Preventiva de Hardware: </a:t>
            </a:r>
            <a:r>
              <a:rPr sz="1350" b="0" i="0">
                <a:solidFill>
                  <a:srgbClr val="FFFFFF"/>
                </a:solidFill>
                <a:latin typeface="Segoe UI"/>
              </a:rPr>
              <a:t>O equipamento é testado previamente na base; falhas físicas de portas e boot são identificadas e substituídas antes do deslocamento ao cliente.</a:t>
            </a:r>
          </a:p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FAE8EB"/>
                </a:solidFill>
                <a:latin typeface="Segoe UI"/>
              </a:rPr>
              <a:t>✔ </a:t>
            </a:r>
            <a:r>
              <a:rPr sz="1350" b="1" i="0">
                <a:solidFill>
                  <a:srgbClr val="FFFFFF"/>
                </a:solidFill>
                <a:latin typeface="Segoe UI"/>
              </a:rPr>
              <a:t>Operação Híbrida e Resiliente (Modo Offline e Online): </a:t>
            </a:r>
            <a:r>
              <a:rPr sz="1350" b="0" i="0">
                <a:solidFill>
                  <a:srgbClr val="FFFFFF"/>
                </a:solidFill>
                <a:latin typeface="Segoe UI"/>
              </a:rPr>
              <a:t>Soluções de mercado dependem de link ativo em campo; o SPARC entrega pronto em bancada (100% offline) e também suporta ativação online pelo link se desejado.</a:t>
            </a:r>
          </a:p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FAE8EB"/>
                </a:solidFill>
                <a:latin typeface="Segoe UI"/>
              </a:rPr>
              <a:t>✔ </a:t>
            </a:r>
            <a:r>
              <a:rPr sz="1350" b="1" i="0">
                <a:solidFill>
                  <a:srgbClr val="FFFFFF"/>
                </a:solidFill>
                <a:latin typeface="Segoe UI"/>
              </a:rPr>
              <a:t>Eficiência em Licenciamento e Infraestrutura: </a:t>
            </a:r>
            <a:r>
              <a:rPr sz="1350" b="0" i="0">
                <a:solidFill>
                  <a:srgbClr val="FFFFFF"/>
                </a:solidFill>
                <a:latin typeface="Segoe UI"/>
              </a:rPr>
              <a:t>Ativo desenvolvido internamente na Claro, sem custos recorrentes de licenças de terceiros e sem necessidade de alocação de servidores dedicados de grande porte.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6126480"/>
            <a:ext cx="100584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AE8EB"/>
                </a:solidFill>
                <a:latin typeface="Segoe UI"/>
              </a:rPr>
              <a:t>Instalação Empresarial - Ativação  |  Regional Santa Catarina  |  george.calcmann@claro.com.br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8813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AE8EB"/>
                </a:solidFill>
                <a:latin typeface="Segoe UI"/>
              </a:rPr>
              <a:t>🔴 CLARO S.A. — ATIVAÇÃO SC · SPARC × PANTEON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Segoe UI"/>
              </a:rPr>
              <a:t>Modularidade Operacional: O Modelo SPARC Full × SPARC Tester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475569"/>
                </a:solidFill>
                <a:latin typeface="Segoe UI"/>
              </a:rPr>
              <a:t>SPARC — Sistema de Provisionamento e Ativação de Roteadores Claro  |  george.calcmann@claro.com.br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25880"/>
            <a:ext cx="525780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8813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325880"/>
            <a:ext cx="5257800" cy="502920"/>
          </a:xfrm>
          <a:prstGeom prst="rect">
            <a:avLst/>
          </a:prstGeom>
          <a:solidFill>
            <a:srgbClr val="8813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  <a:latin typeface="Segoe UI"/>
              </a:rPr>
              <a:t>1. BASE CLARO: SPARC Full (Técnicos Próprios)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965960"/>
            <a:ext cx="4800600" cy="31546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881337"/>
                </a:solidFill>
                <a:latin typeface="Segoe UI"/>
              </a:rPr>
              <a:t>Quem opera: </a:t>
            </a:r>
            <a:r>
              <a:rPr sz="1250" b="0" i="0">
                <a:solidFill>
                  <a:srgbClr val="0F172A"/>
                </a:solidFill>
                <a:latin typeface="Segoe UI"/>
              </a:rPr>
              <a:t>Técnicos da Assistência Técnica interna da Claro.</a:t>
            </a:r>
          </a:p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Onde: </a:t>
            </a:r>
            <a:r>
              <a:rPr sz="1250" b="0" i="0">
                <a:solidFill>
                  <a:srgbClr val="0F172A"/>
                </a:solidFill>
                <a:latin typeface="Segoe UI"/>
              </a:rPr>
              <a:t>Bancada / Laboratório na base regional (100% offline, sem depender de link externo).</a:t>
            </a:r>
          </a:p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DA291C"/>
                </a:solidFill>
                <a:latin typeface="Segoe UI"/>
              </a:rPr>
              <a:t>Triagem de Hardware: </a:t>
            </a:r>
            <a:r>
              <a:rPr sz="1250" b="0" i="0">
                <a:solidFill>
                  <a:srgbClr val="0F172A"/>
                </a:solidFill>
                <a:latin typeface="Segoe UI"/>
              </a:rPr>
              <a:t>Testa portas, boot e integridade da placa. Falhas são substituídas na base antes da visita ao cliente.</a:t>
            </a:r>
          </a:p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O que faz: </a:t>
            </a:r>
            <a:r>
              <a:rPr sz="1250" b="0" i="0">
                <a:solidFill>
                  <a:srgbClr val="0F172A"/>
                </a:solidFill>
                <a:latin typeface="Segoe UI"/>
              </a:rPr>
              <a:t>Lê os dados técnicos do SAIP automaticamente, aplica firmware homologado e grava a configuração completa.</a:t>
            </a:r>
          </a:p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Tempo: </a:t>
            </a:r>
            <a:r>
              <a:rPr sz="1250" b="0" i="0">
                <a:solidFill>
                  <a:srgbClr val="0F172A"/>
                </a:solidFill>
                <a:latin typeface="Segoe UI"/>
              </a:rPr>
              <a:t>Menos de 10 minutos por equipamento.</a:t>
            </a:r>
          </a:p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16A34A"/>
                </a:solidFill>
                <a:latin typeface="Segoe UI"/>
              </a:rPr>
              <a:t>Resultado: </a:t>
            </a:r>
            <a:r>
              <a:rPr sz="1250" b="0" i="0">
                <a:solidFill>
                  <a:srgbClr val="0F172A"/>
                </a:solidFill>
                <a:latin typeface="Segoe UI"/>
              </a:rPr>
              <a:t>Roteador sai 100% pronto, testado e etiquetado ('Plug &amp; Play').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325880"/>
            <a:ext cx="525780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1325880"/>
            <a:ext cx="5257800" cy="50292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  <a:latin typeface="Segoe UI"/>
              </a:rPr>
              <a:t>2. CAMPO: SPARC Tester (Técnicos Parceiros)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1965960"/>
            <a:ext cx="4800600" cy="31546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0284C7"/>
                </a:solidFill>
                <a:latin typeface="Segoe UI"/>
              </a:rPr>
              <a:t>Quem opera: </a:t>
            </a:r>
            <a:r>
              <a:rPr sz="1250" b="0" i="0">
                <a:solidFill>
                  <a:srgbClr val="0F172A"/>
                </a:solidFill>
                <a:latin typeface="Segoe UI"/>
              </a:rPr>
              <a:t>Empresas parceiras responsáveis pela fixação física e conexão do acesso.</a:t>
            </a:r>
          </a:p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O que muda: </a:t>
            </a:r>
            <a:r>
              <a:rPr sz="1250" b="0" i="0">
                <a:solidFill>
                  <a:srgbClr val="0F172A"/>
                </a:solidFill>
                <a:latin typeface="Segoe UI"/>
              </a:rPr>
              <a:t>Desonera o técnico terceiro da tarefa complexa de configuração do roteador.</a:t>
            </a:r>
          </a:p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O que é o SPARC Tester: </a:t>
            </a:r>
            <a:r>
              <a:rPr sz="1250" b="0" i="0">
                <a:solidFill>
                  <a:srgbClr val="0F172A"/>
                </a:solidFill>
                <a:latin typeface="Segoe UI"/>
              </a:rPr>
              <a:t>Aplicativo simplificado e orientado à entrega para celular ou notebook.</a:t>
            </a:r>
          </a:p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O que ele faz: </a:t>
            </a:r>
            <a:r>
              <a:rPr sz="1250" b="0" i="0">
                <a:solidFill>
                  <a:srgbClr val="0F172A"/>
                </a:solidFill>
                <a:latin typeface="Segoe UI"/>
              </a:rPr>
              <a:t>Checa porta de rede, valida link quando o circuito sobe, afere velocidade com Speedtest e gera laudo PDF.</a:t>
            </a:r>
          </a:p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16A34A"/>
                </a:solidFill>
                <a:latin typeface="Segoe UI"/>
              </a:rPr>
              <a:t>Versatilidade Híbrida: </a:t>
            </a:r>
            <a:r>
              <a:rPr sz="1250" b="0" i="0">
                <a:solidFill>
                  <a:srgbClr val="0F172A"/>
                </a:solidFill>
                <a:latin typeface="Segoe UI"/>
              </a:rPr>
              <a:t>Permite também ativar online pelo link do cliente exatamente como o modelo tradicional, se desejado.</a:t>
            </a:r>
          </a:p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16A34A"/>
                </a:solidFill>
                <a:latin typeface="Segoe UI"/>
              </a:rPr>
              <a:t>Impacto: </a:t>
            </a:r>
            <a:r>
              <a:rPr sz="1250" b="0" i="0">
                <a:solidFill>
                  <a:srgbClr val="0F172A"/>
                </a:solidFill>
                <a:latin typeface="Segoe UI"/>
              </a:rPr>
              <a:t>Zero visita perdida por equipamento defeituoso e zero erro de configuração.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394960"/>
            <a:ext cx="10728655" cy="914400"/>
          </a:xfrm>
          <a:prstGeom prst="roundRect">
            <a:avLst>
              <a:gd name="adj" fmla="val 6000"/>
            </a:avLst>
          </a:prstGeom>
          <a:solidFill>
            <a:srgbClr val="DCFCE7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440680"/>
            <a:ext cx="10268712" cy="8229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6A34A"/>
                </a:solidFill>
                <a:latin typeface="Segoe UI"/>
              </a:rPr>
              <a:t>💰 Vantagem Financeira Estratégica: </a:t>
            </a:r>
            <a:r>
              <a:rPr sz="1250" b="0" i="0">
                <a:solidFill>
                  <a:srgbClr val="0F172A"/>
                </a:solidFill>
                <a:latin typeface="Segoe UI"/>
              </a:rPr>
              <a:t>Como o parceiro de campo NÃO precisa executar a configuração do roteador no cliente, a Claro ganha respaldo técnico direto para </a:t>
            </a:r>
            <a:r>
              <a:rPr sz="1250" b="1" i="0">
                <a:solidFill>
                  <a:srgbClr val="0F172A"/>
                </a:solidFill>
                <a:latin typeface="Segoe UI"/>
              </a:rPr>
              <a:t>renegociar e abater o item contratual de configuração de CPE por OS</a:t>
            </a:r>
            <a:r>
              <a:rPr sz="1250" b="0" i="0">
                <a:solidFill>
                  <a:srgbClr val="0F172A"/>
                </a:solidFill>
                <a:latin typeface="Segoe UI"/>
              </a:rPr>
              <a:t>. Além disso, a substituição prévia na base elimina o custo operacional de visitas improdutivas por hardware danificado!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8813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AE8EB"/>
                </a:solidFill>
                <a:latin typeface="Segoe UI"/>
              </a:rPr>
              <a:t>🔴 CLARO S.A. — ATIVAÇÃO SC · SPARC × PANTEON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Segoe UI"/>
              </a:rPr>
              <a:t>Impacto Financeiro Direto: Onde o SPARC Gera Otimização para a Claro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475569"/>
                </a:solidFill>
                <a:latin typeface="Segoe UI"/>
              </a:rPr>
              <a:t>SPARC — Sistema de Provisionamento e Ativação de Roteadores Claro  |  george.calcmann@claro.com.br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25880"/>
            <a:ext cx="525780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325880"/>
            <a:ext cx="5257800" cy="914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527048"/>
            <a:ext cx="470916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 i="0">
                <a:solidFill>
                  <a:srgbClr val="881337"/>
                </a:solidFill>
                <a:latin typeface="Segoe UI"/>
              </a:rPr>
              <a:t>1. Otimização em Contratos de Terceiros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984248"/>
            <a:ext cx="4709160" cy="8686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0F172A"/>
                </a:solidFill>
                <a:latin typeface="Segoe UI"/>
              </a:rPr>
              <a:t>Readequação do item de 'configuração de CPE' nas ordens de serviço executadas por parceiras externas, simplificando o escopo de campo.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3017520"/>
            <a:ext cx="4709160" cy="347472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16A34A"/>
                </a:solidFill>
                <a:latin typeface="Segoe UI"/>
              </a:rPr>
              <a:t>✔  Economia escalável por OS em âmbito nacional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325880"/>
            <a:ext cx="525780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325880"/>
            <a:ext cx="5257800" cy="914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1527048"/>
            <a:ext cx="470916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 i="0">
                <a:solidFill>
                  <a:srgbClr val="881337"/>
                </a:solidFill>
                <a:latin typeface="Segoe UI"/>
              </a:rPr>
              <a:t>2. Custo Marginal Zero de Licenças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1984248"/>
            <a:ext cx="4709160" cy="8686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0F172A"/>
                </a:solidFill>
                <a:latin typeface="Segoe UI"/>
              </a:rPr>
              <a:t>Soluções de fornecedores externos envolvem taxas periódicas de licenciamento de software. O SPARC é um ativo proprietário da Claro.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73952" y="3017520"/>
            <a:ext cx="4709160" cy="347472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16A34A"/>
                </a:solidFill>
                <a:latin typeface="Segoe UI"/>
              </a:rPr>
              <a:t>✔  100% de previsibilidade sem custos de licença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749039"/>
            <a:ext cx="525780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3749039"/>
            <a:ext cx="5257800" cy="914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3950207"/>
            <a:ext cx="470916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 i="0">
                <a:solidFill>
                  <a:srgbClr val="881337"/>
                </a:solidFill>
                <a:latin typeface="Segoe UI"/>
              </a:rPr>
              <a:t>3. Eficiência em Infraestrutura &amp; Servidores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407407"/>
            <a:ext cx="4709160" cy="8686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0F172A"/>
                </a:solidFill>
                <a:latin typeface="Segoe UI"/>
              </a:rPr>
              <a:t>Modelos centralizados demandam expansão contínua de clusters de servidores dedicados. O SPARC processa no dispositivo local (Edge Computing).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5840" y="5440679"/>
            <a:ext cx="4709160" cy="347472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16A34A"/>
                </a:solidFill>
                <a:latin typeface="Segoe UI"/>
              </a:rPr>
              <a:t>✔  Evita novos custos de Capex e Opex de infraestrutura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9632" y="3749039"/>
            <a:ext cx="525780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99632" y="3749039"/>
            <a:ext cx="5257800" cy="914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73952" y="3950207"/>
            <a:ext cx="470916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 i="0">
                <a:solidFill>
                  <a:srgbClr val="881337"/>
                </a:solidFill>
                <a:latin typeface="Segoe UI"/>
              </a:rPr>
              <a:t>4. Mitigação de Visitas Improdutivas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3952" y="4407407"/>
            <a:ext cx="4709160" cy="8686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0F172A"/>
                </a:solidFill>
                <a:latin typeface="Segoe UI"/>
              </a:rPr>
              <a:t>Com a pré-triagem de hardware na base Claro, elimina-se o retrabalho decorrente de falha física do equipamento no momento da visita.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73952" y="5440679"/>
            <a:ext cx="4709160" cy="347472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16A34A"/>
                </a:solidFill>
                <a:latin typeface="Segoe UI"/>
              </a:rPr>
              <a:t>✔  Queda expressiva de cancelamentos e reatendimentos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8813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AE8EB"/>
                </a:solidFill>
                <a:latin typeface="Segoe UI"/>
              </a:rPr>
              <a:t>🔴 CLARO S.A. — ATIVAÇÃO SC · SPARC × PANTEON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Segoe UI"/>
              </a:rPr>
              <a:t>SPARC Hoje: A Ferramenta Prática que Já Transforma o Campo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475569"/>
                </a:solidFill>
                <a:latin typeface="Segoe UI"/>
              </a:rPr>
              <a:t>SPARC — Sistema de Provisionamento e Ativação de Roteadores Claro  |  george.calcmann@claro.com.br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25880"/>
            <a:ext cx="251460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FA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417320"/>
            <a:ext cx="251460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 i="0">
                <a:solidFill>
                  <a:srgbClr val="DA291C"/>
                </a:solidFill>
                <a:latin typeface="Segoe UI"/>
              </a:rPr>
              <a:t>-88%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75688"/>
            <a:ext cx="25146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0F172A"/>
                </a:solidFill>
                <a:latin typeface="Segoe UI"/>
              </a:rPr>
              <a:t>Tempo de Ativação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395728"/>
            <a:ext cx="25146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475569"/>
                </a:solidFill>
                <a:latin typeface="Segoe UI"/>
              </a:rPr>
              <a:t>De ~50 min para &lt; 10 min por CPE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47288" y="1325880"/>
            <a:ext cx="251460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FA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47288" y="1417320"/>
            <a:ext cx="251460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 i="0">
                <a:solidFill>
                  <a:srgbClr val="DA291C"/>
                </a:solidFill>
                <a:latin typeface="Segoe UI"/>
              </a:rP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47288" y="2075688"/>
            <a:ext cx="25146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0F172A"/>
                </a:solidFill>
                <a:latin typeface="Segoe UI"/>
              </a:rPr>
              <a:t>Leitura Automática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7288" y="2395728"/>
            <a:ext cx="25146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475569"/>
                </a:solidFill>
                <a:latin typeface="Segoe UI"/>
              </a:rPr>
              <a:t>Zero digitação manual do SAIP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3056" y="1325880"/>
            <a:ext cx="251460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FA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63056" y="1417320"/>
            <a:ext cx="251460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 i="0">
                <a:solidFill>
                  <a:srgbClr val="DA291C"/>
                </a:solidFill>
                <a:latin typeface="Segoe UI"/>
              </a:rPr>
              <a:t>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63056" y="2075688"/>
            <a:ext cx="25146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0F172A"/>
                </a:solidFill>
                <a:latin typeface="Segoe UI"/>
              </a:rPr>
              <a:t>Operação Offline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63056" y="2395728"/>
            <a:ext cx="25146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475569"/>
                </a:solidFill>
                <a:latin typeface="Segoe UI"/>
              </a:rPr>
              <a:t>Bancada sem depender de link externo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78824" y="1325880"/>
            <a:ext cx="251460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FA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78824" y="1417320"/>
            <a:ext cx="251460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 i="0">
                <a:solidFill>
                  <a:srgbClr val="DA291C"/>
                </a:solidFill>
                <a:latin typeface="Segoe U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78824" y="2075688"/>
            <a:ext cx="25146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0F172A"/>
                </a:solidFill>
                <a:latin typeface="Segoe UI"/>
              </a:rPr>
              <a:t>Plataformas Nativas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78824" y="2395728"/>
            <a:ext cx="25146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475569"/>
                </a:solidFill>
                <a:latin typeface="Segoe UI"/>
              </a:rPr>
              <a:t>Windows (.exe) + Android (.apk)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3108960"/>
            <a:ext cx="3383280" cy="13898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3218688"/>
            <a:ext cx="30175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881337"/>
                </a:solidFill>
                <a:latin typeface="Segoe UI"/>
              </a:rPr>
              <a:t>📄 Leitor Inteligente do SAIP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3611880"/>
            <a:ext cx="3017520" cy="80467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0F172A"/>
                </a:solidFill>
                <a:latin typeface="Segoe UI"/>
              </a:rPr>
              <a:t>Extrai parâmetros diretamente de PDFs/TXTs da Claro. Sem digitação e sem margem para erro humano.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3108960"/>
            <a:ext cx="3383280" cy="13898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26280" y="3218688"/>
            <a:ext cx="30175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881337"/>
                </a:solidFill>
                <a:latin typeface="Segoe UI"/>
              </a:rPr>
              <a:t>🧰 Bancada &amp; Triagem de Hardware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3611880"/>
            <a:ext cx="3017520" cy="80467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0F172A"/>
                </a:solidFill>
                <a:latin typeface="Segoe UI"/>
              </a:rPr>
              <a:t>Testa portas, memória e boot na base Claro. Substitui roteador com defeito antes de ir ao cliente.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55280" y="3108960"/>
            <a:ext cx="3383280" cy="13898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38160" y="3218688"/>
            <a:ext cx="30175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881337"/>
                </a:solidFill>
                <a:latin typeface="Segoe UI"/>
              </a:rPr>
              <a:t>📦 Repositório Offline Embarcado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3611880"/>
            <a:ext cx="3017520" cy="80467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0F172A"/>
                </a:solidFill>
                <a:latin typeface="Segoe UI"/>
              </a:rPr>
              <a:t>Mantém firmwares homologados acessíveis localmente para gravação imediata sem depender de internet.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4663440"/>
            <a:ext cx="3383280" cy="13898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773168"/>
            <a:ext cx="30175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881337"/>
                </a:solidFill>
                <a:latin typeface="Segoe UI"/>
              </a:rPr>
              <a:t>🧪 Testes e Certidão em PDF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166359"/>
            <a:ext cx="3017520" cy="80467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0F172A"/>
                </a:solidFill>
                <a:latin typeface="Segoe UI"/>
              </a:rPr>
              <a:t>Valida internet (Speedtest) e circuito (Y.1564), gerando laudo formal na hora para anexar à OS.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343400" y="4663440"/>
            <a:ext cx="3383280" cy="13898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26280" y="4773168"/>
            <a:ext cx="30175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881337"/>
                </a:solidFill>
                <a:latin typeface="Segoe UI"/>
              </a:rPr>
              <a:t>🔌 Conexão Serial + Cabo de Rede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26280" y="5166359"/>
            <a:ext cx="3017520" cy="80467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0F172A"/>
                </a:solidFill>
                <a:latin typeface="Segoe UI"/>
              </a:rPr>
              <a:t>Trabalha com cabo console e porta Ethernet simultaneamente pelo celular ou notebook.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955280" y="4663440"/>
            <a:ext cx="3383280" cy="13898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38160" y="4773168"/>
            <a:ext cx="30175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881337"/>
                </a:solidFill>
                <a:latin typeface="Segoe UI"/>
              </a:rPr>
              <a:t>🛡️ Gestão e Controle Seguro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38160" y="5166359"/>
            <a:ext cx="3017520" cy="80467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0F172A"/>
                </a:solidFill>
                <a:latin typeface="Segoe UI"/>
              </a:rPr>
              <a:t>Ativação com proteção criptográfica individual vinculada ao dispositivo do técnico, controle online de versões.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8813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AE8EB"/>
                </a:solidFill>
                <a:latin typeface="Segoe UI"/>
              </a:rPr>
              <a:t>🔴 CLARO S.A. — ATIVAÇÃO SC · SPARC × PANTEON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Segoe UI"/>
              </a:rPr>
              <a:t>Matriz Estratégica: Inovação Interna (SPARC) vs. Solução Externa de Mercado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475569"/>
                </a:solidFill>
                <a:latin typeface="Segoe UI"/>
              </a:rPr>
              <a:t>SPARC — Sistema de Provisionamento e Ativação de Roteadores Claro  |  george.calcmann@claro.com.br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325880"/>
            <a:ext cx="2011680" cy="384048"/>
          </a:xfrm>
          <a:prstGeom prst="rect">
            <a:avLst/>
          </a:prstGeom>
          <a:solidFill>
            <a:srgbClr val="8813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Dimensão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325880"/>
            <a:ext cx="3291840" cy="38404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SPARC (Interno Claro)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325880"/>
            <a:ext cx="3291840" cy="384048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Solução Externa (ex: Panteon)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0" y="1325880"/>
            <a:ext cx="2130552" cy="384048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Impacto no Negócio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1709928"/>
            <a:ext cx="10725912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1709928"/>
            <a:ext cx="1828800" cy="11430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881337"/>
                </a:solidFill>
                <a:latin typeface="Segoe UI"/>
              </a:rPr>
              <a:t>Resiliência &amp; Conectividade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1709928"/>
            <a:ext cx="3108960" cy="11430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0F172A"/>
                </a:solidFill>
                <a:latin typeface="Segoe UI"/>
              </a:rPr>
              <a:t>Arquitetura híbrida e flexível: funciona 100% offline em bancada (Plug &amp; Play) e online pelo link em campo. Evolução contínua sob demanda.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1709928"/>
            <a:ext cx="3108960" cy="11430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475569"/>
                </a:solidFill>
                <a:latin typeface="Segoe UI"/>
              </a:rPr>
              <a:t>Modelo tradicional focado na visita em campo; depende de link ativo no cliente e fila de suporte externa.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1709928"/>
            <a:ext cx="1947672" cy="11430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16A34A"/>
                </a:solidFill>
                <a:latin typeface="Segoe UI"/>
              </a:rPr>
              <a:t>Zero paralisação por oscilação de rede externa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2852928"/>
            <a:ext cx="10725912" cy="11430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2852928"/>
            <a:ext cx="1828800" cy="11430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881337"/>
                </a:solidFill>
                <a:latin typeface="Segoe UI"/>
              </a:rPr>
              <a:t>Flexibilidade Orçamentária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2852928"/>
            <a:ext cx="3108960" cy="11430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0F172A"/>
                </a:solidFill>
                <a:latin typeface="Segoe UI"/>
              </a:rPr>
              <a:t>Ativo proprietário da Claro com custo marginal zero de licença de software e aproveitamento de ativos existentes (Edge Computing).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852928"/>
            <a:ext cx="3108960" cy="11430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475569"/>
                </a:solidFill>
                <a:latin typeface="Segoe UI"/>
              </a:rPr>
              <a:t>Modelo convencional de licenciamento por usuário/período e necessidade de servidores dedicados adicionais.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2852928"/>
            <a:ext cx="1947672" cy="11430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16A34A"/>
                </a:solidFill>
                <a:latin typeface="Segoe UI"/>
              </a:rPr>
              <a:t>Previsibilidade orçamentária e redução de TCO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3995928"/>
            <a:ext cx="10725912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3995928"/>
            <a:ext cx="1828800" cy="11430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881337"/>
                </a:solidFill>
                <a:latin typeface="Segoe UI"/>
              </a:rPr>
              <a:t>Estrutura Contratual de Campo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40" y="3995928"/>
            <a:ext cx="3108960" cy="11430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0F172A"/>
                </a:solidFill>
                <a:latin typeface="Segoe UI"/>
              </a:rPr>
              <a:t>Equipamento sai testado e pronto da base; desonera a complexidade técnica do terceiro e viabiliza redução do valor de OS.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3995928"/>
            <a:ext cx="3108960" cy="11430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475569"/>
                </a:solidFill>
                <a:latin typeface="Segoe UI"/>
              </a:rPr>
              <a:t>Mantém a complexidade de configuração na ponta, conservando o modelo de custo contratual de terceiros.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3995928"/>
            <a:ext cx="1947672" cy="11430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16A34A"/>
                </a:solidFill>
                <a:latin typeface="Segoe UI"/>
              </a:rPr>
              <a:t>Redução direta do custo unitário por OS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5138928"/>
            <a:ext cx="10725912" cy="11430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5138928"/>
            <a:ext cx="1828800" cy="11430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881337"/>
                </a:solidFill>
                <a:latin typeface="Segoe UI"/>
              </a:rPr>
              <a:t>Domínio Tecnológico &amp; Agilidade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34640" y="5138928"/>
            <a:ext cx="3108960" cy="11430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0F172A"/>
                </a:solidFill>
                <a:latin typeface="Segoe UI"/>
              </a:rPr>
              <a:t>Capital intelectual retido 100% dentro da Claro. Triagem preventiva de hardware e evolução alinhada à cultura interna.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5138928"/>
            <a:ext cx="3108960" cy="11430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475569"/>
                </a:solidFill>
                <a:latin typeface="Segoe UI"/>
              </a:rPr>
              <a:t>Dependência de roadmap e ciclos de desenvolvimento de fornecedor externo para atendimento de demandas locais.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20" y="5138928"/>
            <a:ext cx="1947672" cy="11430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16A34A"/>
                </a:solidFill>
                <a:latin typeface="Segoe UI"/>
              </a:rPr>
              <a:t>Soberania técnica e controle de processos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8813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AE8EB"/>
                </a:solidFill>
                <a:latin typeface="Segoe UI"/>
              </a:rPr>
              <a:t>🔴 CLARO S.A. — ATIVAÇÃO SC · SPARC × PANTEON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Segoe UI"/>
              </a:rPr>
              <a:t>Transparência Total: Plano de Convergência e Alinhamento Corporativo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475569"/>
                </a:solidFill>
                <a:latin typeface="Segoe UI"/>
              </a:rPr>
              <a:t>SPARC — Sistema de Provisionamento e Ativação de Roteadores Claro  |  george.calcmann@claro.com.br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325880"/>
            <a:ext cx="2194560" cy="384048"/>
          </a:xfrm>
          <a:prstGeom prst="rect">
            <a:avLst/>
          </a:prstGeom>
          <a:solidFill>
            <a:srgbClr val="8813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Item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0" y="1325880"/>
            <a:ext cx="3566160" cy="384048"/>
          </a:xfrm>
          <a:prstGeom prst="rect">
            <a:avLst/>
          </a:prstGeom>
          <a:solidFill>
            <a:srgbClr val="8813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Situação Atual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1325880"/>
            <a:ext cx="3566160" cy="384048"/>
          </a:xfrm>
          <a:prstGeom prst="rect">
            <a:avLst/>
          </a:prstGeom>
          <a:solidFill>
            <a:srgbClr val="8813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Plano de Fechamento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0" y="1325880"/>
            <a:ext cx="1399032" cy="384048"/>
          </a:xfrm>
          <a:prstGeom prst="rect">
            <a:avLst/>
          </a:prstGeom>
          <a:solidFill>
            <a:srgbClr val="8813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Prazo / Esforço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1709928"/>
            <a:ext cx="10725912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1709928"/>
            <a:ext cx="2103120" cy="11430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881337"/>
                </a:solidFill>
                <a:latin typeface="Segoe UI"/>
              </a:rPr>
              <a:t>Script Completo da GER CPE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709928"/>
            <a:ext cx="3474720" cy="11430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0F172A"/>
                </a:solidFill>
                <a:latin typeface="Segoe UI"/>
              </a:rPr>
              <a:t>Hoje o SPARC aplica o script base de conectividade e acesso remoto seguro, com motor de automação 100% homologado.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709928"/>
            <a:ext cx="3474720" cy="11430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0F172A"/>
                </a:solidFill>
                <a:latin typeface="Segoe UI"/>
              </a:rPr>
              <a:t>Receber da GER CPE o layout padrão unificado. O motor de automação e templates do SPARC já está pronto.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168128" y="2121408"/>
            <a:ext cx="1179576" cy="329184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Rápido (dias)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2852928"/>
            <a:ext cx="10725912" cy="11430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2852928"/>
            <a:ext cx="2103120" cy="11430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881337"/>
                </a:solidFill>
                <a:latin typeface="Segoe UI"/>
              </a:rPr>
              <a:t>Acesso à API Corporativa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2852928"/>
            <a:ext cx="3474720" cy="11430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0F172A"/>
                </a:solidFill>
                <a:latin typeface="Segoe UI"/>
              </a:rPr>
              <a:t>Hoje o SPARC extrai parâmetros diretamente da ficha técnica oficial SAIP (PDF/TXT) com zero intervenção manual.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852928"/>
            <a:ext cx="3474720" cy="11430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0F172A"/>
                </a:solidFill>
                <a:latin typeface="Segoe UI"/>
              </a:rPr>
              <a:t>Disponibilizar para o SPARC a mesma credencial de API corporativa já compartilhada com soluções externas.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168128" y="3264408"/>
            <a:ext cx="1179576" cy="329184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Médio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3995928"/>
            <a:ext cx="10725912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995928"/>
            <a:ext cx="2103120" cy="11430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881337"/>
                </a:solidFill>
                <a:latin typeface="Segoe UI"/>
              </a:rPr>
              <a:t>Governança e Oficialização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3995928"/>
            <a:ext cx="3474720" cy="11430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0F172A"/>
                </a:solidFill>
                <a:latin typeface="Segoe UI"/>
              </a:rPr>
              <a:t>Hoje o SPARC opera como projeto inovador da Regional SC em versão beta perfeitamente estável.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995928"/>
            <a:ext cx="3474720" cy="11430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0F172A"/>
                </a:solidFill>
                <a:latin typeface="Segoe UI"/>
              </a:rPr>
              <a:t>Homologar no repositório institucional Claro, com revisão de Segurança da Informação e 2º mantenedor formal.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168128" y="4407408"/>
            <a:ext cx="1179576" cy="329184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Médio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5138928"/>
            <a:ext cx="10725912" cy="11430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138928"/>
            <a:ext cx="2103120" cy="11430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881337"/>
                </a:solidFill>
                <a:latin typeface="Segoe UI"/>
              </a:rPr>
              <a:t>Perfil Modular 'SPARC Tester'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0" y="5138928"/>
            <a:ext cx="3474720" cy="11430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0F172A"/>
                </a:solidFill>
                <a:latin typeface="Segoe UI"/>
              </a:rPr>
              <a:t>Hoje a versão atual contempla todas as ferramentas avançadas de bancada, engenharia e diagnóstico.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5138928"/>
            <a:ext cx="3474720" cy="11430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0F172A"/>
                </a:solidFill>
                <a:latin typeface="Segoe UI"/>
              </a:rPr>
              <a:t>Disponibilizar o perfil restrito e simplificado para distribuição segura e padronizada às parceiras terceirizadas.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168128" y="5550408"/>
            <a:ext cx="1179576" cy="329184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Em curso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8813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AE8EB"/>
                </a:solidFill>
                <a:latin typeface="Segoe UI"/>
              </a:rPr>
              <a:t>🔴 CLARO S.A. — ATIVAÇÃO SC · SPARC × PANTEON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Segoe UI"/>
              </a:rPr>
              <a:t>Plano de Ação: Proposta de Encaminhamento para a Liderança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475569"/>
                </a:solidFill>
                <a:latin typeface="Segoe UI"/>
              </a:rPr>
              <a:t>SPARC — Sistema de Provisionamento e Ativação de Roteadores Claro  |  george.calcmann@claro.com.br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1399032"/>
            <a:ext cx="640080" cy="64008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54480" y="1325880"/>
            <a:ext cx="5760720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91640" y="1362456"/>
            <a:ext cx="5486400" cy="34747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881337"/>
                </a:solidFill>
                <a:latin typeface="Segoe UI"/>
              </a:rPr>
              <a:t>Aprovar o Modelo Modular (Full + Tester)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1709928"/>
            <a:ext cx="548640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0F172A"/>
                </a:solidFill>
                <a:latin typeface="Segoe UI"/>
              </a:rPr>
              <a:t>Implementar a triagem de hardware e preparo prévio na Assistência Técnica da Regional SC e distribuir o SPARC Tester aos parceiros.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331720"/>
            <a:ext cx="640080" cy="64008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554480" y="2258568"/>
            <a:ext cx="5760720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91640" y="2295144"/>
            <a:ext cx="5486400" cy="34747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881337"/>
                </a:solidFill>
                <a:latin typeface="Segoe UI"/>
              </a:rPr>
              <a:t>Intermediar Insumos Técnicos com a GER CPE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2642615"/>
            <a:ext cx="548640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0F172A"/>
                </a:solidFill>
                <a:latin typeface="Segoe UI"/>
              </a:rPr>
              <a:t>Obter o layout do script unificado e a concessão da API corporativa já disponibilizada a soluções de mercado.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3264408"/>
            <a:ext cx="640080" cy="64008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554480" y="3191256"/>
            <a:ext cx="5760720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91640" y="3227832"/>
            <a:ext cx="5486400" cy="34747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881337"/>
                </a:solidFill>
                <a:latin typeface="Segoe UI"/>
              </a:rPr>
              <a:t>Revisão e Estudo de Contratos Terceirizados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3575304"/>
            <a:ext cx="548640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0F172A"/>
                </a:solidFill>
                <a:latin typeface="Segoe UI"/>
              </a:rPr>
              <a:t>Iniciar alinhamento com Suprimentos e Gestão de Contratos para estudo de readequação do item de configuração de roteador por OS.</a:t>
            </a:r>
          </a:p>
        </p:txBody>
      </p:sp>
      <p:sp>
        <p:nvSpPr>
          <p:cNvPr id="21" name="Oval 20"/>
          <p:cNvSpPr/>
          <p:nvPr/>
        </p:nvSpPr>
        <p:spPr>
          <a:xfrm>
            <a:off x="731520" y="4197096"/>
            <a:ext cx="640080" cy="64008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554480" y="4123944"/>
            <a:ext cx="5760720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91640" y="4160520"/>
            <a:ext cx="5486400" cy="34747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881337"/>
                </a:solidFill>
                <a:latin typeface="Segoe UI"/>
              </a:rPr>
              <a:t>Oficialização Corporativa e Governança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4507992"/>
            <a:ext cx="548640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0F172A"/>
                </a:solidFill>
                <a:latin typeface="Segoe UI"/>
              </a:rPr>
              <a:t>Integrar aos canais oficiais da Claro com homologação de Segurança da Informação e expansão para as demais regionais.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89520" y="1325880"/>
            <a:ext cx="3867912" cy="3602736"/>
          </a:xfrm>
          <a:prstGeom prst="roundRect">
            <a:avLst>
              <a:gd name="adj" fmla="val 6000"/>
            </a:avLst>
          </a:prstGeom>
          <a:solidFill>
            <a:srgbClr val="8813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1444752"/>
            <a:ext cx="356616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AE8EB"/>
                </a:solidFill>
                <a:latin typeface="Segoe UI"/>
              </a:rPr>
              <a:t>Ganhos Imediatos para a Claro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1874519"/>
            <a:ext cx="3566160" cy="2926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✔ Economia Contratual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2148839"/>
            <a:ext cx="356616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FAE8EB"/>
                </a:solidFill>
                <a:latin typeface="Segoe UI"/>
              </a:rPr>
              <a:t>Readequação de valor por OS em contratos de prestação.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2624327"/>
            <a:ext cx="3566160" cy="2926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✔ Zero Equipamento com Falha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2898647"/>
            <a:ext cx="356616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FAE8EB"/>
                </a:solidFill>
                <a:latin typeface="Segoe UI"/>
              </a:rPr>
              <a:t>Triagem prévia na base substitui hardware antes do campo.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3374135"/>
            <a:ext cx="3566160" cy="2926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✔ Resiliência Operacional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3648455"/>
            <a:ext cx="356616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FAE8EB"/>
                </a:solidFill>
                <a:latin typeface="Segoe UI"/>
              </a:rPr>
              <a:t>Opera 100% offline em bancada ou online pelo link do cliente.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4123944"/>
            <a:ext cx="3566160" cy="2926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✔ Custo Marginal Zero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4398264"/>
            <a:ext cx="356616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FAE8EB"/>
                </a:solidFill>
                <a:latin typeface="Segoe UI"/>
              </a:rPr>
              <a:t>Ativo próprio da Claro sem taxas de licenciamento de software.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5166360"/>
            <a:ext cx="10728655" cy="1051560"/>
          </a:xfrm>
          <a:prstGeom prst="roundRect">
            <a:avLst>
              <a:gd name="adj" fmla="val 6000"/>
            </a:avLst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Decisão Estratégica Baseada em Valor: </a:t>
            </a:r>
            <a:r>
              <a:rPr sz="1250" b="0" i="0">
                <a:solidFill>
                  <a:srgbClr val="FFFFFF"/>
                </a:solidFill>
                <a:latin typeface="Segoe UI"/>
              </a:rPr>
              <a:t>O SPARC atende integralmente às necessidades de ativação e entrega diferenciais exclusivos: </a:t>
            </a:r>
            <a:r>
              <a:rPr sz="1250" b="1" i="0">
                <a:solidFill>
                  <a:srgbClr val="FFFFFF"/>
                </a:solidFill>
                <a:latin typeface="Segoe UI"/>
              </a:rPr>
              <a:t>preparo 100% offline em bancada, triagem prévia de hardware, custo marginal zero de licenças e redução direta de custos em contratos de terceiros.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