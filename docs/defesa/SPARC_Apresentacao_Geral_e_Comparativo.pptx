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Geral: O SPARC é um ativo in-house da Claro, funcional em SC, focado em baixo custo, automação e projeto Visita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Destaque: o contraste entre o modelo manual anterior disperso e a esteira ponta a ponta em &lt;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Métricas concretas comprovadas em campo na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Maturidade do roadmap e visão de integração corporativa.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comparativo com a solução de mercado com linguagem executiva e propositiva.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Resumo Executivo do Modo Offline e recomendação da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modular que protege o contrato e o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4 frentes financeiras objetivas de economia da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ferramenta pronta e homologada na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Comparativo objetivo: SPARC ganha em quase todos os critérios práticos de campo 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prática dos cenários reais de instalação em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executiva dos 4 pilares estratégicos de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Transparência total quanto às liberações internas 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formal com solicitação de apoio e a nota de transparência para proteção institucional da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4572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🔴 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E8EB"/>
                </a:solidFill>
                <a:latin typeface="Segoe UI"/>
              </a:rPr>
              <a:t>Sistema de Provisionamento e Ativação de Roteadores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6949440" cy="338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Plataforma autônoma para apoio técnico em processos de Ativações Empresariais de campo, 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focada em solução de zero/baixo custo, com alta adaptabilidade e escalabilidade.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Recuperação de roteadores: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Restauração ágil de senhas, configs prévias (reutilizados) e firmwares corrompidos.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Upgrades online de firmwares: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Streaming TFTP/HTTP nativo integrado no SPARC sem softwares adicionais.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Parametrização automatizada de configurações: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Importa dados técnicos diretamente de arquivos PDF/TXT sem erro manual.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Homologação técnica de serviços: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Auditoria e testes automáticos de conectividade e emissão de laudo formal.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Foco Estratégico: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Preenchimento de lacunas técnicas em campo, promovendo forte sinergia e otimização dos atendimentos do projeto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Visita Única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, flexibilizando a necessidade de capacitação técnica inicial e contínua.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971800"/>
            <a:ext cx="2651760" cy="2023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AE8EB"/>
                </a:solidFill>
                <a:latin typeface="Segoe UI"/>
              </a:rPr>
              <a:t>Instalação Empresarial - Ativação  |  Regional Santa Catarina  |  george.calcmann@claro.com.br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Contexto Operacional: Transformando a Ativação de Circuitos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❌ Processo Manual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991B1B"/>
                </a:solidFill>
                <a:latin typeface="Segoe UI"/>
              </a:rPr>
              <a:t>• Dificuldade de Diálogo Técnico: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Fricção na comunicação entre o suporte CLARO e o profissional de campo em procedimentos com roteadores.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Tempo Médio Elevado: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Procedimentos manuais de atualização de firmwares consumiam ~50 minutos por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Fricção com Senhas Desconhecidas: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Necessidade de resets forçados via comandos manuais complexos.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Dependência de Múltiplos Softwares: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Operador precisava de PuTTY, TFTPD32, calculadoras de IP, coleções de scripts e firmwares.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Risco de Erro Humano: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Digitação incorreta, cálculos de máscaras de rede, IPs de WAN/LAN, rotas e configuração de acesso remoto.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Validação Manual: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Validação manual de conectividade e IP, testes manuais de banda e ajustes manuais via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⚡ Solução com a Esteira SPARC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• Intermediação Eficiente: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Intermediação da configuração do roteador, permitindo integração mais eficiente com o suporte Claro.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Agilidade Comprovada: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Provisionamento completo em bancada ou campo em menos de 10 minutos, com poucos cliques.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Recuperação Automatizada: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Recuperação de equipamentos bloqueados por senhas, com configs prévias (reutilizados) e firmwares corrompidos.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TFTP/HTTP 100% Integrado: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Streaming nativo embutido no SPARC, sem necessidade de softwares adicionais.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Importação Direta do SAIP: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Importa dados técnicos diretamente de arquivos PDF/TXT oficiais sem erro de digitação.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Auditoria e Testes Automáticos: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Ajusta configurações da placa de rede do operador e testa ICMP, Telnet e homologação de banda.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Impacto Operacional e Métricas de Produtividade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2523744" cy="91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DA291C"/>
                </a:solidFill>
                <a:latin typeface="Segoe UI"/>
              </a:rPr>
              <a:t>-88%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Redução no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Técnico experiente ~50 min para &lt; 10 min por roteador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325880"/>
            <a:ext cx="2523744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16A34A"/>
                </a:solidFill>
                <a:latin typeface="Segoe U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Aderência aos Padrões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Sem falhas de digitação em IPs e Rotas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325880"/>
            <a:ext cx="2523744" cy="914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0284C7"/>
                </a:solidFill>
                <a:latin typeface="Segoe UI"/>
              </a:rPr>
              <a:t>1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Solução Portátil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Substitui PuTTY, TFTPD32, scripts e gestão de firmwares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1325880"/>
            <a:ext cx="2523744" cy="9144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881337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Plataformas Nativas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Operação híbrida em Windows (.exe) e Android (.apk)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728655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💡 Benefícios Estratégicos para a Operação Claro S.A.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97680"/>
            <a:ext cx="10268712" cy="1783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Escalabilidade de Ativação (Modo Bancada):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Possibilidade de trabalho modo 'bancada', um único operador ganha capacidade de preparar dezenas de roteadores diariamente sem estresse operacional, entregando os equipamentos pré-configurados para as equipes, ou ainda, o próprio técnico executa o processo completo in loco.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Facilidade de Uso e Interface Amigável: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Manual e interface visual intuitiva com indicação em tempo real de progresso e status, reduzindo drasticamente o tempo de treinamento.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Aderência Total ao Projeto Visita Única: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Redução de retrabalho, assertividade em campo e garantia de conformidade na primeira visita ao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Próximos Passos e Conclusão: Roadmap de Evolução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🚀 Roadmap de Evolução — Andamento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📱 SPARC Móvel, Android (75%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Em processo de refinamento operacional para celulares Android corporativos.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☁️ Repositório Online Homologado: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Elimina necessidade de administração de arquivos pelos usuários. Funcional, em fase de homologação.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🧪 Aferições Avançadas (80%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Certidões de Nascimento sem necessidade de equipamentos dedicados (JDSU e afins) aproveitando a estrutura Claro existente. Loop lógico no roteador com um clique via LAN.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🔧 Funções Adicionais e Manutenção (70%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Funções para equipamentos ativos, atualizações e recuperação de equipamentos em bancada.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🎯 Roadmap de Evolução — Projeção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🔗 Integração com os Sistemas Corporativos Claro: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Com uma única variável (OS) o sistema poderá identificar todos os dados necessários para provisionamento definitivo, gerar progresso e demais atualizações sistêmicas online, em tempo real.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🔐 Acesso a Banco de Dados de Senha: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Acesso protegido e direto sem necessidade de divulgação ao operador de campo.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🌐 Expansão de Equipamentos de Rede: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Inclusão de suporte a equipamentos de acesso, switches e demais dispositivos de rede de diferentes portes.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🏢 Escala Nacional Institucional: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Disponibilização da solução para as demais regionais Claro sob governança centralizada.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4572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🔴 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E8EB"/>
                </a:solidFill>
                <a:latin typeface="Segoe UI"/>
              </a:rPr>
              <a:t>Decisão Estratégica: Eficiência Operacional, Flexibilidade e Redução de Custos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024128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Como simplificar a operação de campo, economizar recursos contratuais e blindar a entrega contra falhas?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Oportunidade com Redução de Custos Contratuais: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Roteador sai pronto da base Claro, permitindo abater item pago a terceiros.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Oportunidade com a Triagem Prévia de Hardware: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Equipamento já sai testado da base; defeituosos são substituídos antes da visita.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Modo Offline com Máxima Flexibilidade: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O SPARC traz flexibilidade, trabalha em modo ONLINE e 'OFFLINE', não depende da conectividade do link para preparar o roteador, podendo executar tudo com antecedência.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Zero Investimento em Licenças e Servidores: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Ativo 100% interno Claro, sem Capex/Opex de fornecedor externo engessado.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AE8EB"/>
                </a:solidFill>
                <a:latin typeface="Segoe UI"/>
              </a:rPr>
              <a:t>Instalação Empresarial - Ativação  |  Regional Santa Catarina  |  george.calcmann@claro.com.br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Resumo Executivo: Oportunidade do Modo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34290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81337"/>
                </a:solidFill>
                <a:latin typeface="Segoe UI"/>
              </a:rPr>
              <a:t>ECONOMIA EM CONTRATOS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301752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O SPARC entra como apoio na configuração do roteador ainda na base Claro com a Assistência Técnica própria, retiramos a responsabilidade do terceiro e renegociamos o item de configuração pago por OS. Entregamos roteador pronto!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4290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81337"/>
                </a:solidFill>
                <a:latin typeface="Segoe UI"/>
              </a:rPr>
              <a:t>HARDWARE VALIDADO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301752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Testamos o hardware na base com antecedência (substituição prévia se houver defeito físico ou de portas).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32588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325880"/>
            <a:ext cx="34290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46304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81337"/>
                </a:solidFill>
                <a:latin typeface="Segoe UI"/>
              </a:rPr>
              <a:t>ZERO LICENÇAS E SERVIDORES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920240"/>
            <a:ext cx="301752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Sem taxas de licença por usuário, sem renovações bienais e sem compra de servidores dedicados. Código de propriedade da Claro pronto para escala imediata.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03320"/>
            <a:ext cx="48463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D97706"/>
                </a:solidFill>
                <a:latin typeface="Segoe UI"/>
              </a:rPr>
              <a:t>Possíveis Gargalos na Solução Externa (Panteon):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69080"/>
            <a:ext cx="4846320" cy="2103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• Dependência do Link do Cliente: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Enquanto o serviço não apresentar conectividade, o Panteon trava e não consegue iniciar o processo em paralelo com outras demandas de suporte.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• Sem Triagem Prévia de Hardware: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Descobre defeito físico do roteador na frente do cliente, podendo gerar visita improdutiva.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• Custo Recorrente e Servidores: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Licenças proprietárias e renovações periódicas, além de exigir investimento em +10 servidores internos para homologação dos links.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• Engessamento Operacional: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Obriga o técnico terceiro a configurar no campo, encarecendo o contrato de instalação.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61188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3703320"/>
            <a:ext cx="48463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E8EB"/>
                </a:solidFill>
                <a:latin typeface="Segoe UI"/>
              </a:rPr>
              <a:t>Nossa Recomendação Prática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069080"/>
            <a:ext cx="4846320" cy="2103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Adotar o modelo SPARC Full na Assistência Técnica própria para entregar roteadores 100% testados.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Disponibilizar o 'SPARC Tester' para os parceiros terceirizados apenas validarem a entrega física/velocidade via SmartPhone.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Renegociar o valor do item de configuração de roteador nos contratos das prestadoras de serviço.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AE8EB"/>
                </a:solidFill>
                <a:latin typeface="Segoe UI"/>
              </a:rPr>
              <a:t>Resultado: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zero visita perdida por defeito de hardware, ativação ágil e economia recorrente.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Modularidade Operacional: O Modelo SPARC Full × SPARC Tester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1. BASE CLARO: SPARC Full (Técnicos Próprios)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Técnicos da Assistência Técnica e Ativação interna da Claro.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Onde: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Bancada / Laboratório na base regional.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DA291C"/>
                </a:solidFill>
                <a:latin typeface="Segoe UI"/>
              </a:rPr>
              <a:t>Triagem de Hardware: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Testa portas, boot e placas. Se houver falha, substitui o equipamento na base antes de ir para a rua.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faz: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Lê o SAIP automaticamente, atualiza o firmware homologado e aplica a configuração.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Tempo: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Menos de 10 minutos por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Resultado: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Roteador sai 100% pronto, testado e etiquetado ('Plug &amp; Play').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2. CAMPO: SPARC Tester (Técnicos Terceirizados)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Empresas terceiras responsáveis pela fixação e instalação do acesso.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muda: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Retira do terceiro o acesso e a responsabilidade de configurar o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é o SPARC Tester: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Aplicativo simplificado e blindado para celular ou notebook, focado na homologação da entrega.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ele faz: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Checa porta de rede, valida link quando o circuito sobe, afere velocidade com Speedtest e gera laudo PDF.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Versatilidade Híbrida: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Permite também ativar online pelo link do cliente exatamente como o Panteon, se desejado.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Impacto: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Zero visita perdida por equipamento defeituoso e zero erro de configuração.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10268712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💰 Vantagem Financeira Estratégica: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Como o parceiro NÃO precisa mais configurar o roteador no cliente, a Claro ganha respaldo direto para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renegociar e abater o item contratual de configuração de CPE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. Além disso, a substituição prévia na base elimina o custo de visitas improdutivas por hardware defeituoso!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Impacto Financeiro Direto: Onde o SPARC Gera Economia para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27048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1. Redução Contratual de Terceiros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84248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Eliminação do custo de 'configuração de CPE' nas ordens de serviço executadas por parceiras externas.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17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Economia por OS em escala nacional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25880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27048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2. Custo Zero com Licenças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84248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Panteon exige licenças por usuário ou contratos bienais caros. O SPARC é ativo de propriedade da Claro: R$ 0.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3017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100% de economia em licenças de software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49039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7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3. Zero Investimento em Servidores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07407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Panteon prevê estrutura própria com expansão para 10+ servidores dedicados. O SPARC roda localmente sem novos servidores exclusivos.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440679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Evita Capex e Opex de infraestrutura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49039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749039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7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4. Eliminação de Visitas Improdutivas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07407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Como o equipamento já é testado na base, elimina visitas perdidas por defeito de hardware ou link instável.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440679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Queda de retrabalho e revisitas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SPARC Hoje: A Ferramenta Prática que Já Transforma o Campo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-88%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Tempo de Ativação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De ~50 min para &lt; 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Leitura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Zero digitação manual do SAIP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Operação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Bancada sem depender de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24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Plataformas Nativas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Windows (.exe) + Android (.apk)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📄 Leitor Inteligente do SAIP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Extrai parâmetros diretamente de PDFs/TXTs da Claro. Sem digitação e sem margem para erro humano.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🧰 Bancada &amp; Triagem de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Testa portas, memória e boot na base Claro. Substitui roteador com defeito antes de ir ao cliente.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📦 Repositório Offline Embarcado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Mantém firmwares homologados acessíveis localmente para gravação imediata sem depender de internet.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🧪 Testes e Certidão em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Valida internet (Speedtest) e circuito (Y.1564), gerando laudo formal na hora para anexar à 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🔌 Conexão Serial + Cabo de Rede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Trabalha com cabo console e porta Ethernet simultaneamente pelo celular ou notebook.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🛡️ Gestão e Controle Seguro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Ativação com proteção criptográfica individual vinculada ao dispositivo do técnico.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Comparativo com base no que foi apresentado: SPARC × Panteon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3474720" cy="329184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Critério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977639" cy="32918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SPARC (Inovação Interna)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234440"/>
            <a:ext cx="3273552" cy="329184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Panteon (Fornecedor Externo)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63624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63624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Investimento em Licenças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91056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Zero — Propriedade interna Claro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7031" y="1591056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Alto — Licenças vitalícias ou bienais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965960"/>
            <a:ext cx="1072591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65960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Redução de Custo Contratual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993391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Sim — Permite modo SPARC Tester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1" y="1993391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Não — Mantém terceiro configurando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68296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368296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Tolerância a Link Fora do 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2395727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100% Offline — Roteador preparado em paralelo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1" y="2395727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Trava — Exige link online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770632"/>
            <a:ext cx="1072591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770632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Triagem Prévia de Hardware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798064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Sim — Substituição na base antes da visita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2798064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Não — Descobre falha na frente do cliente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172968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172968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Modo Online pelo Link do Cliente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3200399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Sim — Funciona igual ao Panteon se desejado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7031" y="3200399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Sim — Único modo suportado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575304"/>
            <a:ext cx="1072591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75304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Necessidade de Servidores Novos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602736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Zero — Processamento no dispositivo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57031" y="3602736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Exige 1 + expansão para 10 servidores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77639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977639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Plataformas Suportadas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9392" y="4005072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Windows + Android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7031" y="4005072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Somente Android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379976"/>
            <a:ext cx="1072591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379976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Interface de Teste de Campo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9392" y="4407408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Serial CLI + Cabo de Rede (Ethernet)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57031" y="4407408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Somente Serial CLI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782312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782312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Homologação da Entrega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9392" y="4809744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Speedtest + Laudo PDF (Módulo Y.1564 em testes)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1" y="4809744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◐  Exige servidores internos dedicados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184648"/>
            <a:ext cx="1072591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184648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Disponibilidade Operacional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79392" y="5212080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Imediata (Beta em uso na Regional)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57031" y="5212080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291C"/>
                </a:solidFill>
                <a:latin typeface="Segoe UI"/>
              </a:rPr>
              <a:t>✖  Piloto travado em aprovação financeira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586984"/>
            <a:ext cx="107259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586984"/>
            <a:ext cx="3337560" cy="40233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Integração com APIs Claro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79392" y="5614416"/>
            <a:ext cx="3831335" cy="34747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◐  Em roadmap (tecnologia já modular)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57031" y="5614416"/>
            <a:ext cx="3127248" cy="347472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Segoe UI"/>
              </a:rPr>
              <a:t>✔  Sim (já homologado)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897880"/>
            <a:ext cx="4389120" cy="347472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Vantagens Comerciais/Operacionais:  SPARC 10  ×  2  Panteon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897880"/>
            <a:ext cx="621792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✔ Atende com excelência   ◐ Em andamento/Depende de insumo   ✖ Não atende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Flexibilidade de Ativação: Onde Cada Solução Funciona na Prática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14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🌐 Link Ativo no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Circuito online: baixa firmware e valida direto pelo link (igual ao Panteon).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015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Panteon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325880"/>
            <a:ext cx="2514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17320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🧰 Bancada na Base (Sem Link)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874519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Equipamento testado e preparado antes da visita por técnicos Claro. Roteador sai pronto.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292608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34015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325880"/>
            <a:ext cx="2514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417320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📲 Atualização pelo Dispositivo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874519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Técnico transfere firmware do próprio celular/notebook quando cliente ainda não tem rede ou em bancada.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92608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34015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1325880"/>
            <a:ext cx="2514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1417320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🔴 Link Instável ou com Atraso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874519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Panteon TRAVA. O SPARC entrega o roteador pronto; sobe assim que a rede normalizar.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1704" y="292608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34015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81337"/>
                </a:solidFill>
                <a:latin typeface="Segoe UI"/>
              </a:rPr>
              <a:t>Compatibilidade e Meios de Conexão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1772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Cabo Console (Serial)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02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468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Panteon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288" y="461772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470916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Cabo de Rede (Ethernet)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0168" y="5102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0168" y="5468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DA291C"/>
                </a:solidFill>
                <a:latin typeface="Segoe UI"/>
              </a:rPr>
              <a:t>✖ Panteon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61772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470916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Celular / Tablet (Android)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5102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45936" y="5468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Panteon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78824" y="461772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8824" y="470916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Notebook / PC (Windows)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1704" y="5102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61704" y="5468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DA291C"/>
                </a:solidFill>
                <a:latin typeface="Segoe UI"/>
              </a:rPr>
              <a:t>✖ Panteon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Matriz Estratégica: Inovação Interna (SPARC) vs. Fornecedor Externo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1168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Dimensão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2588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SPARC (Interno Claro)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3291840" cy="38404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Fornecedor Externo (Panteon)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25880"/>
            <a:ext cx="2130552" cy="3840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Impacto no Negócio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709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Velocidade &amp; Resiliência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Funciona 100% offline em bancada ou online pelo link. Evolução contínua sem depender de fornecedor externo.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Depende obrigatoriamente de link ativo na visita e fila de suporte do fornecedor externo.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709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Zero paralisação por indisponibilidade de rede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52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52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Flexibilidade Orçamentária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Zero licenças e zero servidores dedicados. Capacidade de modular (SPARC Full vs SPARC Tester) sob demanda. Windows e Android.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Cobrança recorrente por usuário ou pacotes bienais caros; qualquer mudança gera cobrança extra.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852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Previsibilidade e economia contínua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95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95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Redução Contratual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Equipamento testado e pronto de base; desonera terceirizados e viabiliza redução do valor de 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Mantém o modelo antigo, com terceiro cobrando caro pela configuração em campo.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995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Redução direta do custo unitário por 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38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Domínio do Conhecimento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Know-how retido 100% dentro da Claro. Triagem prévia de hardware feita pelos técnicos próprios.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Dependência crônica de fornecedor terceiro, com risco de descontinuidade ou reajustes.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38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Soberania técnica e controle de processos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Transparência Total: O Que Falta e Como Fechar Rapidamente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1945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Situação Atual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Plano de Fechamento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325880"/>
            <a:ext cx="1399032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Prazo / Esforço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09928"/>
            <a:ext cx="21031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Script Completo da GER CPE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70992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Hoje o SPARC aplica o script de conectividade e acesso remoto, e a GER CPE conclui remotamente.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0992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Estabelecer com GER CPE o layout padrão do script. O motor de automação do SPARC já está pronto para este suporte.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212848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Rápido (dias)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127248"/>
            <a:ext cx="10725912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27248"/>
            <a:ext cx="21031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Acesso à API Corporativa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12724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Hoje o SPARC lê as ordens e parâmetros diretamente da ficha SAIP (PDF/TXT) sem erro humano.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Liberar para o SPARC a mesma credencial de API já concedida ao Panteon para leitura direta de sistema.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8128" y="3630168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44568"/>
            <a:ext cx="107259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44568"/>
            <a:ext cx="21031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Governança e Oficialização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4456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Hoje o SPARC opera como projeto inovador da Regional SC com versão beta estável.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44568"/>
            <a:ext cx="3474720" cy="14173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Oficializar em repositório corporativo Claro, e formação de 2º mantenedor.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8128" y="5047488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Plano de Ação: O Que Propomos para a Regional e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80744"/>
            <a:ext cx="594360" cy="59436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585216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62456"/>
            <a:ext cx="557784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Aprovar o Modelo Modular (Full + Tester)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91640"/>
            <a:ext cx="557784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Implementar a triagem de hardware e preparo prévio na Assistência Técnica da Regional SC e distribuir o SPARC Tester aos parceiros.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276856"/>
            <a:ext cx="594360" cy="59436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221991"/>
            <a:ext cx="585216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258568"/>
            <a:ext cx="557784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Intermediar Insumos com a GER CPE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587751"/>
            <a:ext cx="557784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Obter o layout do script completo e a liberação da API corporativa já compartilhada com o Panteon.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172968"/>
            <a:ext cx="594360" cy="59436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118104"/>
            <a:ext cx="585216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154680"/>
            <a:ext cx="557784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Revisão e Renegociação Contratual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483864"/>
            <a:ext cx="557784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Abrir estudo com Suprimentos/Contratos para abatimento do item de configuração de roteador nas faturas de parceiras terceirizadas.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069079"/>
            <a:ext cx="594360" cy="59436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014215"/>
            <a:ext cx="585216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4050791"/>
            <a:ext cx="557784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Oficialização Corporativa do SPARC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79976"/>
            <a:ext cx="557784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Integrar aos canais oficiais da Claro com homologação de Segurança da Informação e expansão para as demais regionais.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325880"/>
            <a:ext cx="3867912" cy="3474720"/>
          </a:xfrm>
          <a:prstGeom prst="roundRect">
            <a:avLst>
              <a:gd name="adj" fmla="val 6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417320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FAE8EB"/>
                </a:solidFill>
                <a:latin typeface="Segoe UI"/>
              </a:rPr>
              <a:t>Ganhos Imediatos para a Claro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783080"/>
            <a:ext cx="35661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Economia Contratual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039112"/>
            <a:ext cx="356616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AE8EB"/>
                </a:solidFill>
                <a:latin typeface="Segoe UI"/>
              </a:rPr>
              <a:t>Abatimento de valor por OS nas faturas terceirizadas.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514600"/>
            <a:ext cx="35661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Zero Equipamento Defeituoso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770632"/>
            <a:ext cx="356616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AE8EB"/>
                </a:solidFill>
                <a:latin typeface="Segoe UI"/>
              </a:rPr>
              <a:t>Triagem prévia na base Claro substitui hardware antes do campo.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246120"/>
            <a:ext cx="35661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Zero Dependência de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502152"/>
            <a:ext cx="356616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AE8EB"/>
                </a:solidFill>
                <a:latin typeface="Segoe UI"/>
              </a:rPr>
              <a:t>Opera 100% offline em bancada ou online pelo link do cliente.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77640"/>
            <a:ext cx="35661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Zero Capex / Licenças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233672"/>
            <a:ext cx="356616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AE8EB"/>
                </a:solidFill>
                <a:latin typeface="Segoe UI"/>
              </a:rPr>
              <a:t>Ativo próprio da Claro sem taxas de fornecedor externo.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983480"/>
            <a:ext cx="1072865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29200"/>
            <a:ext cx="10360152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81337"/>
                </a:solidFill>
                <a:latin typeface="Segoe UI"/>
              </a:rPr>
              <a:t>Nota de Transparência: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As referências a soluções de mercado (Panteon) baseiam-se no modelo operacional e fluxo de ativação propostos e divulgados até a presente data, sem o propósito de realizar auditoria técnica aprofundada da ferramenta externa. O objetivo desta apresentação restringe-se a demonstrar a proposta de valor, a modularidade e os ganhos operacionais e financeiros da esteira interna SPARC para a Claro.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